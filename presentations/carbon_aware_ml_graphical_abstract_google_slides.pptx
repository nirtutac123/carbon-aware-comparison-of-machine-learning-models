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664efbd79d4eed" /><Relationship Type="http://schemas.openxmlformats.org/officeDocument/2006/relationships/extended-properties" Target="/docProps/app.xml" Id="R5584f46cbd2a458a" /><Relationship Type="http://schemas.openxmlformats.org/officeDocument/2006/relationships/officeDocument" Target="/ppt/presentation.xml" Id="Rf0d3174d541747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858876b24424e"/>
  </p:sldMasterIdLst>
  <p:notesMasterIdLst>
    <p:notesMasterId xmlns:r="http://schemas.openxmlformats.org/officeDocument/2006/relationships" r:id="Rabd423fd0c0e4985"/>
  </p:notesMasterIdLst>
  <p:sldIdLst>
    <p:sldId xmlns:r="http://schemas.openxmlformats.org/officeDocument/2006/relationships" id="256" r:id="Rfb74efae015943c5"/>
    <p:sldId xmlns:r="http://schemas.openxmlformats.org/officeDocument/2006/relationships" id="257" r:id="Ra2d159c0035544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6858876b24424e" /><Relationship Type="http://schemas.openxmlformats.org/officeDocument/2006/relationships/theme" Target="/ppt/theme/theme1.xml" Id="R15d574b11da2415b" /><Relationship Type="http://schemas.openxmlformats.org/officeDocument/2006/relationships/notesMaster" Target="/ppt/notesMasters/notesMaster1.xml" Id="Rabd423fd0c0e4985" /><Relationship Type="http://schemas.openxmlformats.org/officeDocument/2006/relationships/presProps" Target="/ppt/presProps.xml" Id="Rb171908508ed4ded" /><Relationship Type="http://schemas.openxmlformats.org/officeDocument/2006/relationships/viewProps" Target="/ppt/viewProps.xml" Id="R9d182d0864ad4bf8" /><Relationship Type="http://schemas.openxmlformats.org/officeDocument/2006/relationships/tableStyles" Target="/ppt/tableStyles.xml" Id="R499ec257a4e94711" /><Relationship Type="http://schemas.openxmlformats.org/officeDocument/2006/relationships/slide" Target="/ppt/slides/slide1.xml" Id="Rfb74efae015943c5" /><Relationship Type="http://schemas.openxmlformats.org/officeDocument/2006/relationships/slide" Target="/ppt/slides/slide2.xml" Id="Ra2d159c0035544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2eab99d253a44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37f318d5be4d36" /><Relationship Type="http://schemas.openxmlformats.org/officeDocument/2006/relationships/notesMaster" Target="/ppt/notesMasters/notesMaster1.xml" Id="R5aad48e5f6344c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8aefd465ed4c3f" /><Relationship Type="http://schemas.openxmlformats.org/officeDocument/2006/relationships/notesMaster" Target="/ppt/notesMasters/notesMaster1.xml" Id="R18f84903b70047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f80099aad432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ffc6fce6dea44c6" /><Relationship Type="http://schemas.openxmlformats.org/officeDocument/2006/relationships/slideLayout" Target="/ppt/slideLayouts/slideLayout2.xml" Id="R3a74ee985af940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74ee985af940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a897ae296b4e33" /><Relationship Type="http://schemas.openxmlformats.org/officeDocument/2006/relationships/image" Target="/ppt/media/image.png" Id="R0c2c928ef15f43c3" /><Relationship Type="http://schemas.openxmlformats.org/officeDocument/2006/relationships/image" Target="/ppt/media/image.svg" Id="R5dcd03b128fd4caf" /><Relationship Type="http://schemas.openxmlformats.org/officeDocument/2006/relationships/image" Target="/ppt/media/image2.png" Id="R432800649a184abb" /><Relationship Type="http://schemas.openxmlformats.org/officeDocument/2006/relationships/image" Target="/ppt/media/image2.svg" Id="R80402a7f031944bb" /><Relationship Type="http://schemas.openxmlformats.org/officeDocument/2006/relationships/image" Target="/ppt/media/image3.png" Id="R8211ba348b494a59" /><Relationship Type="http://schemas.openxmlformats.org/officeDocument/2006/relationships/image" Target="/ppt/media/image3.svg" Id="R3dbf0a7fc7574c9b" /><Relationship Type="http://schemas.openxmlformats.org/officeDocument/2006/relationships/image" Target="/ppt/media/image4.png" Id="Rd34f2b033055411a" /><Relationship Type="http://schemas.openxmlformats.org/officeDocument/2006/relationships/image" Target="/ppt/media/image4.svg" Id="Rd72d5e640a6043ad" /><Relationship Type="http://schemas.openxmlformats.org/officeDocument/2006/relationships/image" Target="/ppt/media/image5.png" Id="R3efd82b8279a4d98" /><Relationship Type="http://schemas.openxmlformats.org/officeDocument/2006/relationships/image" Target="/ppt/media/image5.svg" Id="Rcf0e518817ca4b23" /><Relationship Type="http://schemas.openxmlformats.org/officeDocument/2006/relationships/image" Target="/ppt/media/image6.png" Id="Re676fbfb02224d3d" /><Relationship Type="http://schemas.openxmlformats.org/officeDocument/2006/relationships/image" Target="/ppt/media/image6.svg" Id="R6ef8db2d4d434753" /><Relationship Type="http://schemas.openxmlformats.org/officeDocument/2006/relationships/image" Target="/ppt/media/image7.png" Id="Rc088eafff0b54a0b" /><Relationship Type="http://schemas.openxmlformats.org/officeDocument/2006/relationships/image" Target="/ppt/media/image7.svg" Id="R9a77700fddfe4ee4" /><Relationship Type="http://schemas.openxmlformats.org/officeDocument/2006/relationships/image" Target="/ppt/media/image8.png" Id="Rc3cc033e29054373" /><Relationship Type="http://schemas.openxmlformats.org/officeDocument/2006/relationships/image" Target="/ppt/media/image8.svg" Id="Rca51792158a546e8" /><Relationship Type="http://schemas.openxmlformats.org/officeDocument/2006/relationships/image" Target="/ppt/media/image9.png" Id="R2426da1c05094320" /><Relationship Type="http://schemas.openxmlformats.org/officeDocument/2006/relationships/image" Target="/ppt/media/image9.svg" Id="R27e21d52afbf4c5e" /><Relationship Type="http://schemas.openxmlformats.org/officeDocument/2006/relationships/image" Target="/ppt/media/image10.png" Id="R5ffff54b18cc440b" /><Relationship Type="http://schemas.openxmlformats.org/officeDocument/2006/relationships/image" Target="/ppt/media/image10.svg" Id="Rbab2d80d21474650" /><Relationship Type="http://schemas.openxmlformats.org/officeDocument/2006/relationships/image" Target="/ppt/media/image11.png" Id="R1a202a6e5db940a1" /><Relationship Type="http://schemas.openxmlformats.org/officeDocument/2006/relationships/image" Target="/ppt/media/image11.svg" Id="Rbe0f0b3e546741aa" /><Relationship Type="http://schemas.openxmlformats.org/officeDocument/2006/relationships/image" Target="/ppt/media/image12.png" Id="Ra875e2c03b6a409f" /><Relationship Type="http://schemas.openxmlformats.org/officeDocument/2006/relationships/image" Target="/ppt/media/image12.svg" Id="R5e3c474ea9354578" /><Relationship Type="http://schemas.openxmlformats.org/officeDocument/2006/relationships/image" Target="/ppt/media/image13.png" Id="R0fc87a8814fd4520" /><Relationship Type="http://schemas.openxmlformats.org/officeDocument/2006/relationships/image" Target="/ppt/media/image13.svg" Id="R3db25de7a62844e4" /><Relationship Type="http://schemas.openxmlformats.org/officeDocument/2006/relationships/image" Target="/ppt/media/image14.png" Id="R3f4ed674efe14692" /><Relationship Type="http://schemas.openxmlformats.org/officeDocument/2006/relationships/image" Target="/ppt/media/image14.svg" Id="R9d8382248d964410" /><Relationship Type="http://schemas.openxmlformats.org/officeDocument/2006/relationships/image" Target="/ppt/media/image15.png" Id="R74ab13a78f784735" /><Relationship Type="http://schemas.openxmlformats.org/officeDocument/2006/relationships/image" Target="/ppt/media/image15.svg" Id="R7c77436b80fa48d6" /><Relationship Type="http://schemas.openxmlformats.org/officeDocument/2006/relationships/image" Target="/ppt/media/image16.png" Id="Re4821d1d257245a5" /><Relationship Type="http://schemas.openxmlformats.org/officeDocument/2006/relationships/image" Target="/ppt/media/image16.svg" Id="Rf289570e7fe54ae2" /><Relationship Type="http://schemas.openxmlformats.org/officeDocument/2006/relationships/notesSlide" Target="/ppt/notesSlides/notesSlide1.xml" Id="Rc4955234c70347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9d5ab2e98741c0" /><Relationship Type="http://schemas.openxmlformats.org/officeDocument/2006/relationships/image" Target="/ppt/media/image17.png" Id="R620f0d02fc1d41e1" /><Relationship Type="http://schemas.openxmlformats.org/officeDocument/2006/relationships/image" Target="/ppt/media/image17.svg" Id="R587c2fec1f244f36" /><Relationship Type="http://schemas.openxmlformats.org/officeDocument/2006/relationships/image" Target="/ppt/media/image18.png" Id="Rc4dc7bd4a3c747d5" /><Relationship Type="http://schemas.openxmlformats.org/officeDocument/2006/relationships/image" Target="/ppt/media/image18.svg" Id="R6ee99b110a404be1" /><Relationship Type="http://schemas.openxmlformats.org/officeDocument/2006/relationships/image" Target="/ppt/media/image19.png" Id="Raf008af05edb4066" /><Relationship Type="http://schemas.openxmlformats.org/officeDocument/2006/relationships/image" Target="/ppt/media/image19.svg" Id="Rae5d2d11329c4114" /><Relationship Type="http://schemas.openxmlformats.org/officeDocument/2006/relationships/image" Target="/ppt/media/image20.png" Id="R5d84c7cbb1034289" /><Relationship Type="http://schemas.openxmlformats.org/officeDocument/2006/relationships/image" Target="/ppt/media/image20.svg" Id="Rcd68acff971a4eae" /><Relationship Type="http://schemas.openxmlformats.org/officeDocument/2006/relationships/image" Target="/ppt/media/image21.png" Id="R52d3217c6dee4397" /><Relationship Type="http://schemas.openxmlformats.org/officeDocument/2006/relationships/image" Target="/ppt/media/image21.svg" Id="Raa4ab3cde8704585" /><Relationship Type="http://schemas.openxmlformats.org/officeDocument/2006/relationships/image" Target="/ppt/media/image22.png" Id="R960d8b87849f4867" /><Relationship Type="http://schemas.openxmlformats.org/officeDocument/2006/relationships/image" Target="/ppt/media/image22.svg" Id="R01c08371d9ee4118" /><Relationship Type="http://schemas.openxmlformats.org/officeDocument/2006/relationships/image" Target="/ppt/media/image23.png" Id="R746d747fe6114f7e" /><Relationship Type="http://schemas.openxmlformats.org/officeDocument/2006/relationships/image" Target="/ppt/media/image23.svg" Id="R044ee34c78bf4bfe" /><Relationship Type="http://schemas.openxmlformats.org/officeDocument/2006/relationships/image" Target="/ppt/media/image24.png" Id="R4d05c991cb9c4164" /><Relationship Type="http://schemas.openxmlformats.org/officeDocument/2006/relationships/image" Target="/ppt/media/image24.svg" Id="Rcf71c2673a7c476d" /><Relationship Type="http://schemas.openxmlformats.org/officeDocument/2006/relationships/notesSlide" Target="/ppt/notesSlides/notesSlide2.xml" Id="Rdc3ef3039c7f452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EFC73-875B-445F-BB60-2F461123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9A8A5-25D5-4C73-B783-9EBB6E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8600"/>
            <a:ext cx="11620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3E4"/>
          </a:solidFill>
          <a:ln xmlns:a="http://schemas.openxmlformats.org/drawingml/2006/main" w="19050">
            <a:solidFill>
              <a:srgbClr val="24584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92613-C01E-4B75-8771-00BA9C5B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Carbon-Aware Machine Learning Model Selection for Germany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D54AF-AC86-45B1-93B4-8DDDD04B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Google Slides-ready graphical abstract | OPSD hourly power-system data | 2015-2020 chronological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F4FBE-C454-4908-97AD-5386E886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"/>
            <a:ext cx="1714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F0EC"/>
          </a:solidFill>
          <a:ln xmlns:a="http://schemas.openxmlformats.org/drawingml/2006/main" w="11430">
            <a:solidFill>
              <a:srgbClr val="2458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6D342-C5EB-4266-976B-2203D5FD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High-load event classification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ABD85-CC77-4924-BE20-F9CAF72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9100"/>
            <a:ext cx="1619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7E8BE"/>
          </a:solidFill>
          <a:ln xmlns:a="http://schemas.openxmlformats.org/drawingml/2006/main" w="11430">
            <a:solidFill>
              <a:srgbClr val="2458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BB409-8BE3-414C-9F7C-FABE93EA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572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Accuracy x carbon proxy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C84BA-4C95-482D-9108-688DD6B0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81050"/>
            <a:ext cx="1524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9EBC3"/>
          </a:solidFill>
          <a:ln xmlns:a="http://schemas.openxmlformats.org/drawingml/2006/main" w="11430">
            <a:solidFill>
              <a:srgbClr val="2458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D6A2E-670E-4CB9-B1B6-0CF998B2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19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SVG vector icon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082C2-7BF6-4728-9291-54CB5343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647950" cy="38576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458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44017-3BC7-4F47-8B14-AB30D147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FDE91-D35B-41B3-AF69-42F35E7C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B83F"/>
          </a:solidFill>
          <a:ln xmlns:a="http://schemas.openxmlformats.org/drawingml/2006/main" w="14288">
            <a:solidFill>
              <a:srgbClr val="24584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2BEBD-7E23-499E-A7E4-025E7F1C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68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E3B44-BB82-4AD0-9C73-B7E6F07B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Measured Object &amp; Data Context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c928ef15f43c3">
            <a:extLst>
              <a:ext uri="{96DAC541-7B7A-43D3-8B79-37D633B846F1}">
                <asvg:svgBlip xmlns:asvg="http://schemas.microsoft.com/office/drawing/2016/SVG/main" r:embed="R5dcd03b128fd4c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114550"/>
            <a:ext cx="781050" cy="7810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800649a184abb">
            <a:extLst>
              <a:ext uri="{96DAC541-7B7A-43D3-8B79-37D633B846F1}">
                <asvg:svgBlip xmlns:asvg="http://schemas.microsoft.com/office/drawing/2016/SVG/main" r:embed="R80402a7f031944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81200" y="21145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5469C-A12E-44BB-8595-730F34A7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German OPSD 60-minute electricity time series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854C0-EABA-4BD0-A274-C08D4374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21145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Target: whether load 24 hours ahead enters the top quintile of observed next-day demand.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7A7E0-97AA-403B-9F5C-930CFB6C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764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1F7EE"/>
          </a:solidFill>
          <a:ln xmlns:a="http://schemas.openxmlformats.org/drawingml/2006/main" w="11430">
            <a:solidFill>
              <a:srgbClr val="87B8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87C42-CAB3-42C0-99AC-64C04D53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7B83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7B83F"/>
                </a:solidFill>
                <a:latin typeface="Aptos Display"/>
                <a:ea typeface="Aptos Display"/>
                <a:cs typeface="Aptos Display"/>
              </a:rPr>
              <a:t>Train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B0C04-3C3F-4DC2-BF10-6CC81D92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2015-2018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E7466-F38A-4E35-A42E-094FA20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57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9E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E6E9E"/>
                </a:solidFill>
                <a:latin typeface="Aptos Display"/>
                <a:ea typeface="Aptos Display"/>
                <a:cs typeface="Aptos Display"/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2413C6-B53C-4DC9-9936-7C9A702B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38650"/>
            <a:ext cx="78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2019-2020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3A105-FE06-48EA-83CD-545527FB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2647950" cy="38576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458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1F29E8-24A3-4D30-A5E3-718E5654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E8B53-FA5F-4373-ABFE-32468C40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00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A895"/>
          </a:solidFill>
          <a:ln xmlns:a="http://schemas.openxmlformats.org/drawingml/2006/main" w="14288">
            <a:solidFill>
              <a:srgbClr val="24584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CFEA29-08AA-417D-9D03-43205AD1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668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59BFA-4E67-4139-8212-BD77E651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Measurement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BA959-E11A-4122-9488-12A87D2A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098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6"/>
          </a:solidFill>
          <a:ln xmlns:a="http://schemas.openxmlformats.org/drawingml/2006/main" w="10478">
            <a:solidFill>
              <a:srgbClr val="3BA895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1ba348b494a59">
            <a:extLst>
              <a:ext uri="{96DAC541-7B7A-43D3-8B79-37D633B846F1}">
                <asvg:svgBlip xmlns:asvg="http://schemas.microsoft.com/office/drawing/2016/SVG/main" r:embed="R3dbf0a7fc7574c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76650" y="22669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C0836D-3165-4558-98CB-676090B0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1457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3D3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3D37"/>
                </a:solidFill>
                <a:latin typeface="Aptos"/>
                <a:ea typeface="Aptos"/>
                <a:cs typeface="Aptos"/>
              </a:rPr>
              <a:t>Preprocess DE signals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AEA802-5A05-41D3-BBF3-D8C0FE59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9337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8F6"/>
          </a:solidFill>
          <a:ln xmlns:a="http://schemas.openxmlformats.org/drawingml/2006/main" w="10478">
            <a:solidFill>
              <a:srgbClr val="3BA895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f2b033055411a">
            <a:extLst>
              <a:ext uri="{96DAC541-7B7A-43D3-8B79-37D633B846F1}">
                <asvg:svgBlip xmlns:asvg="http://schemas.microsoft.com/office/drawing/2016/SVG/main" r:embed="Rd72d5e640a6043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76650" y="2990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78EDC2-D233-47FD-BEF6-0DD0B84A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3847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3D3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3D37"/>
                </a:solidFill>
                <a:latin typeface="Aptos"/>
                <a:ea typeface="Aptos"/>
                <a:cs typeface="Aptos"/>
              </a:rPr>
              <a:t>Engineer calendar, lag, renewable, TSO features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53E7BE-C9D8-4847-864D-6EC2E5D6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576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BF6"/>
          </a:solidFill>
          <a:ln xmlns:a="http://schemas.openxmlformats.org/drawingml/2006/main" w="10478">
            <a:solidFill>
              <a:srgbClr val="3BA895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d82b8279a4d98">
            <a:extLst>
              <a:ext uri="{96DAC541-7B7A-43D3-8B79-37D633B846F1}">
                <asvg:svgBlip xmlns:asvg="http://schemas.microsoft.com/office/drawing/2016/SVG/main" r:embed="Rcf0e518817ca4b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76650" y="3714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42C035-72E7-4616-9AB3-7F6A82C2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6237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Compare five model families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61C599-C8B1-45E3-96CD-DB8AB66B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81500"/>
            <a:ext cx="2095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8F6"/>
          </a:solidFill>
          <a:ln xmlns:a="http://schemas.openxmlformats.org/drawingml/2006/main" w="10478">
            <a:solidFill>
              <a:srgbClr val="3BA895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6fbfb02224d3d">
            <a:extLst>
              <a:ext uri="{96DAC541-7B7A-43D3-8B79-37D633B846F1}">
                <asvg:svgBlip xmlns:asvg="http://schemas.microsoft.com/office/drawing/2016/SVG/main" r:embed="R6ef8db2d4d4347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76650" y="44386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11DAC3-8AD8-489A-838B-26D90A90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86275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183D3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3D37"/>
                </a:solidFill>
                <a:latin typeface="Aptos"/>
                <a:ea typeface="Aptos"/>
                <a:cs typeface="Aptos"/>
              </a:rPr>
              <a:t>Estimate runtime energy x residual-load proxy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8261F0-F155-45D0-B872-782C81E4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2647950" cy="38576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4584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B3A339-1CA6-4B73-BF23-1C730C46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5AD6DB-91B1-4A2C-A6FF-9A8679EC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E9E"/>
          </a:solidFill>
          <a:ln xmlns:a="http://schemas.openxmlformats.org/drawingml/2006/main" w="14288">
            <a:solidFill>
              <a:srgbClr val="24584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20FEEA-A587-4F6C-A986-67D91D12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668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53595F-5F4D-4DAB-9D15-9CB261CF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38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Outcome &amp; Validation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8eafff0b54a0b">
            <a:extLst>
              <a:ext uri="{96DAC541-7B7A-43D3-8B79-37D633B846F1}">
                <asvg:svgBlip xmlns:asvg="http://schemas.microsoft.com/office/drawing/2016/SVG/main" r:embed="R9a77700fddfe4e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21145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B8E55D-3D1D-4A30-B5FE-F4BDB737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1104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Pareto frontier identifies accurate low-carbon candidates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B87AF1-C0E7-4EBE-B17A-71E02EA9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289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Histogram GB F1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2A138-7A53-4B02-992A-294B1846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38500"/>
            <a:ext cx="952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F0D751-08C8-4CDD-8F56-2E8D2B2E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38500"/>
            <a:ext cx="856298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66FA5E-F899-45B5-91BE-D4ED6E77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004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6E9E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E6E9E"/>
                </a:solidFill>
                <a:latin typeface="Aptos Display"/>
                <a:ea typeface="Aptos Display"/>
                <a:cs typeface="Aptos Display"/>
              </a:rPr>
              <a:t>0.899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5C5F9D-1760-4B8D-A102-48638ACE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052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Random Forest F1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FA40D26-5C1E-44B8-9A6C-CC074212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952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B50D8EE-7A92-48B9-B161-C0ED1495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846773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A8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81EEB7-A5B3-454E-A0C0-F3A225FF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BA895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3BA895"/>
                </a:solidFill>
                <a:latin typeface="Aptos Display"/>
                <a:ea typeface="Aptos Display"/>
                <a:cs typeface="Aptos Display"/>
              </a:rPr>
              <a:t>0.889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861568-1424-412F-8E47-5319ACCF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Logistic F1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9FC4F4-5F7C-4A4E-9BF9-E498583B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952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F74028E-13DA-4E18-B5E6-536AFA2A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69342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53B3B94-0474-4417-9E0D-57E96C75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529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3AA2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E3AA2D"/>
                </a:solidFill>
                <a:latin typeface="Aptos Display"/>
                <a:ea typeface="Aptos Display"/>
                <a:cs typeface="Aptos Display"/>
              </a:rPr>
              <a:t>0.728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350CD85-0827-443F-A332-C1CC4BDC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10100"/>
            <a:ext cx="95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BF5"/>
          </a:solidFill>
          <a:ln xmlns:a="http://schemas.openxmlformats.org/drawingml/2006/main" w="10478">
            <a:solidFill>
              <a:srgbClr val="2E6E9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3730BFA-1944-4024-A136-32EDF0F7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24400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6E9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2E6E9E"/>
                </a:solidFill>
                <a:latin typeface="Aptos Display"/>
                <a:ea typeface="Aptos Display"/>
                <a:cs typeface="Aptos Display"/>
              </a:rPr>
              <a:t>AUC 0.993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E9C3D28-908B-4013-BBC3-312B4F7C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10100"/>
            <a:ext cx="9715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E8BE"/>
          </a:solidFill>
          <a:ln xmlns:a="http://schemas.openxmlformats.org/drawingml/2006/main" w="10478">
            <a:solidFill>
              <a:srgbClr val="E3AA2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391621B-33EE-4B19-808C-8B3E2E2F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95825"/>
            <a:ext cx="781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80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31.9% CO2 proxy cut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CEBC1E-3B05-4104-940A-3B193397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647950" cy="38576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4584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3CC27A-7489-44B1-A9B7-4860B575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28750"/>
            <a:ext cx="2647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D768B36-3E3F-412B-B0F1-BF370410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00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A2D"/>
          </a:solidFill>
          <a:ln xmlns:a="http://schemas.openxmlformats.org/drawingml/2006/main" w="14288">
            <a:solidFill>
              <a:srgbClr val="24584E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9C7A757-768F-4A4F-B46E-434E9D8B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66875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03E67A-1F89-4607-8BF4-0A7A68B4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3830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Carbon-Aware Training Windows</a:t>
            </a:r>
          </a:p>
        </p:txBody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c033e29054373">
            <a:extLst>
              <a:ext uri="{96DAC541-7B7A-43D3-8B79-37D633B846F1}">
                <asvg:svgBlip xmlns:asvg="http://schemas.microsoft.com/office/drawing/2016/SVG/main" r:embed="Rca51792158a546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48800" y="21145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560627-0F3F-4726-8425-43A514F2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09800"/>
            <a:ext cx="106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Schedule training into low residual-load hours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8CCDD56-4A49-4075-9860-CEA8BDDA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52750"/>
            <a:ext cx="20193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9E9"/>
          </a:solidFill>
          <a:ln xmlns:a="http://schemas.openxmlformats.org/drawingml/2006/main" w="11430">
            <a:solidFill>
              <a:srgbClr val="E3AA2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ABDE63-1B49-474D-A69C-70B05FAB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706A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>
                <a:solidFill>
                  <a:srgbClr val="58706A"/>
                </a:solidFill>
                <a:latin typeface="Aptos Display"/>
                <a:ea typeface="Aptos Display"/>
                <a:cs typeface="Aptos Display"/>
              </a:rPr>
              <a:t>Carbon intensity proxy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67D609C-CFF8-4EF9-91D6-0117F29A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718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Green window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ADFBC9-6D0F-44B6-B846-246B16C0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1400"/>
            <a:ext cx="952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AB90BF2-366F-4476-BE18-6F2AE4FE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1400"/>
            <a:ext cx="51894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7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BD64802-AF74-4067-A34B-6ECD0FDE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433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7B83F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87B83F"/>
                </a:solidFill>
                <a:latin typeface="Aptos Display"/>
                <a:ea typeface="Aptos Display"/>
                <a:cs typeface="Aptos Display"/>
              </a:rPr>
              <a:t>354.132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18479D5-CF5C-4E6A-A5D1-4C32386C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90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Random hour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666E5A8-338C-4269-8A66-6CF3DBC1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38600"/>
            <a:ext cx="952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AB01C85-FC45-48E6-AA4F-E2D65633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38600"/>
            <a:ext cx="761871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AA8401-8A1C-464E-925F-1FFCACF0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0005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3AA2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E3AA2D"/>
                </a:solidFill>
                <a:latin typeface="Aptos Display"/>
                <a:ea typeface="Aptos Display"/>
                <a:cs typeface="Aptos Display"/>
              </a:rPr>
              <a:t>519.912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679EBAF-103C-4AED-A0E1-121CC975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862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High-carbon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E685F0-7ED0-4BCD-8999-BEB0E46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95800"/>
            <a:ext cx="9525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9B15EDA-6794-47B7-B1DC-AD850866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95800"/>
            <a:ext cx="918497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C71F67-E8CA-49CA-8A4D-196EF60A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457700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8503D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C8503D"/>
                </a:solidFill>
                <a:latin typeface="Aptos Display"/>
                <a:ea typeface="Aptos Display"/>
                <a:cs typeface="Aptos Display"/>
              </a:rPr>
              <a:t>626.796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ED94E27-30FA-4C5D-875E-649D5F00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6672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915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Key implication: model choice and training time are coupled design decisions.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F46FFA8-FA81-4E87-89B5-B89AC194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52800"/>
            <a:ext cx="161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52AD29-66E2-447C-95E0-1BD4E3DB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67075"/>
            <a:ext cx="171450" cy="2095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245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6F47CE-2C98-41AB-B427-7F575CC5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161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8273DE1-320F-4CFD-8CDD-F5A3CB0E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67075"/>
            <a:ext cx="171450" cy="2095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245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50D23E2-CBB8-4A83-9338-89ECD2E1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52800"/>
            <a:ext cx="1619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20CA01-AB32-474D-B7C4-6750918E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67075"/>
            <a:ext cx="171450" cy="2095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2458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CE030F-A5B0-4C88-8480-09FE4C21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3E4"/>
          </a:solidFill>
          <a:ln xmlns:a="http://schemas.openxmlformats.org/drawingml/2006/main" w="17145">
            <a:solidFill>
              <a:srgbClr val="24584E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85EEC22-323B-4D06-BCB8-AF9DB47F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4584E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>
                <a:solidFill>
                  <a:srgbClr val="24584E"/>
                </a:solidFill>
                <a:latin typeface="Aptos Display"/>
                <a:ea typeface="Aptos Display"/>
                <a:cs typeface="Aptos Display"/>
              </a:rPr>
              <a:t>Reusable SVG icon workflow from /icons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7889C1F-3710-4640-8887-282473CA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A895"/>
            </a:solidFill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26da1c05094320">
            <a:extLst>
              <a:ext uri="{96DAC541-7B7A-43D3-8B79-37D633B846F1}">
                <asvg:svgBlip xmlns:asvg="http://schemas.microsoft.com/office/drawing/2016/SVG/main" r:embed="R27e21d52afbf4c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1050" y="58769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47DB4F5-48ED-4EC4-992C-D2550A57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4360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Dataset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9AEEFA4-2D17-4377-8EF6-1BD92BB4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8388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A895"/>
            </a:solidFill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ff54b18cc440b">
            <a:extLst>
              <a:ext uri="{96DAC541-7B7A-43D3-8B79-37D633B846F1}">
                <asvg:svgBlip xmlns:asvg="http://schemas.microsoft.com/office/drawing/2016/SVG/main" r:embed="Rbab2d80d214746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43125" y="58769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4F7D58-0396-4869-A245-D8B8AE5A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94360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Questions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0185840-B7E2-450F-B69E-360704AB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8388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A895"/>
            </a:solidFill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02a6e5db940a1">
            <a:extLst>
              <a:ext uri="{96DAC541-7B7A-43D3-8B79-37D633B846F1}">
                <asvg:svgBlip xmlns:asvg="http://schemas.microsoft.com/office/drawing/2016/SVG/main" r:embed="Rbe0f0b3e546741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505200" y="58769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4DAF86-53DD-48E3-A4C4-890B5A56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4360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Clean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635B326-0107-4CE0-B133-D73ECCAF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8388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A895"/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5e2c03b6a409f">
            <a:extLst>
              <a:ext uri="{96DAC541-7B7A-43D3-8B79-37D633B846F1}">
                <asvg:svgBlip xmlns:asvg="http://schemas.microsoft.com/office/drawing/2016/SVG/main" r:embed="R5e3c474ea93545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67275" y="58769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DC28462-6195-4412-83D1-FF24FCAB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94360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Features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E811B7C-0092-40FA-B639-E4BAAC1C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8388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A895"/>
            </a:solidFill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87a8814fd4520">
            <a:extLst>
              <a:ext uri="{96DAC541-7B7A-43D3-8B79-37D633B846F1}">
                <asvg:svgBlip xmlns:asvg="http://schemas.microsoft.com/office/drawing/2016/SVG/main" r:embed="R3db25de7a62844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29350" y="58769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DA74209-94E2-4F35-878C-8E35AC51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94360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Train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D391CDF-04E2-4964-BBD2-FB23BED0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8388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A895"/>
            </a:solidFill>
            <a:prstDash val="solid"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ed674efe14692">
            <a:extLst>
              <a:ext uri="{96DAC541-7B7A-43D3-8B79-37D633B846F1}">
                <asvg:svgBlip xmlns:asvg="http://schemas.microsoft.com/office/drawing/2016/SVG/main" r:embed="R9d8382248d9644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91425" y="58769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9FE9161-F6E4-4840-86D8-A74FC04B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94360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Carbon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E44D5C0-FE5B-4474-8F19-6269C56E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8388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A895"/>
            </a:solidFill>
            <a:prstDash val="solid"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b13a78f784735">
            <a:extLst>
              <a:ext uri="{96DAC541-7B7A-43D3-8B79-37D633B846F1}">
                <asvg:svgBlip xmlns:asvg="http://schemas.microsoft.com/office/drawing/2016/SVG/main" r:embed="R7c77436b80fa48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0" y="58769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526C2BC-9E58-44E4-AC46-97C903C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94360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Pareto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1B51BA0-563D-48A5-8248-2AEA439A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5838825"/>
            <a:ext cx="1123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E8BE"/>
          </a:solidFill>
          <a:ln xmlns:a="http://schemas.openxmlformats.org/drawingml/2006/main" w="9525">
            <a:solidFill>
              <a:srgbClr val="E3AA2D"/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21d1d257245a5">
            <a:extLst>
              <a:ext uri="{96DAC541-7B7A-43D3-8B79-37D633B846F1}">
                <asvg:svgBlip xmlns:asvg="http://schemas.microsoft.com/office/drawing/2016/SVG/main" r:embed="Rf289570e7fe54a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15575" y="58769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D1B8C0-9973-46B8-8486-44749C65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943600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Report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14E5A6F-6D32-4659-A785-2D29CA73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Source tables: outputs/tables/*.csv; vector icons: icons/*.svg; generated for PS26 project.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0018633-3EC8-496F-A022-42AF3748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3890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24584E"/>
                </a:solidFill>
                <a:latin typeface="Aptos Display"/>
                <a:ea typeface="Aptos Display"/>
                <a:cs typeface="Aptos Display"/>
              </a:defRPr>
            </a:pPr>
            <a:r>
              <a:rPr sz="713" b="1">
                <a:solidFill>
                  <a:srgbClr val="24584E"/>
                </a:solidFill>
                <a:latin typeface="Aptos Display"/>
                <a:ea typeface="Aptos Display"/>
                <a:cs typeface="Aptos Display"/>
              </a:rPr>
              <a:t>SVG icons embedded with compatibility fallbacks</a:t>
            </a:r>
          </a:p>
        </p:txBody>
      </p:sp>
    </p:spTree>
    <p:extLst>
      <p:ext uri="{BB962C8B-B14F-4D97-AF65-F5344CB8AC3E}">
        <p14:creationId xmlns:p14="http://schemas.microsoft.com/office/powerpoint/2010/main" val="3217976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49F1EF-5F42-4F65-94C8-AA8266A0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C7587-C225-47F6-89E2-F390C2B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7650"/>
            <a:ext cx="115443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E4"/>
          </a:solidFill>
          <a:ln xmlns:a="http://schemas.openxmlformats.org/drawingml/2006/main" w="19050">
            <a:solidFill>
              <a:srgbClr val="24584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23AF3-1823-47C1-8515-A8E146D0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Copyable Vector Icon Sheet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E93AF-196A-48DF-8AD1-BBCEBA4F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Import this PPTX into Google Slides, then copy/paste these large icon objects into your graphical abstract.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B6120-0772-4182-88B3-BA98811A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52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4584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24584E"/>
                </a:solidFill>
                <a:latin typeface="Aptos Display"/>
                <a:ea typeface="Aptos Display"/>
                <a:cs typeface="Aptos Display"/>
              </a:rPr>
              <a:t>Source: /icons/*.svg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70FF6-1EE9-4936-954D-1E576B39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11AD0-8291-4FCF-8F68-0C45368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f0d02fc1d41e1">
            <a:extLst>
              <a:ext uri="{96DAC541-7B7A-43D3-8B79-37D633B846F1}">
                <asvg:svgBlip xmlns:asvg="http://schemas.microsoft.com/office/drawing/2016/SVG/main" r:embed="R587c2fec1f244f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81100" y="16383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25DD7-EBA0-42D6-8163-64D21DA9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D3B9D-A8B2-4DA4-9233-A1C0FF0A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01_dataset.svg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6C1C16-05B1-47AD-BC7A-69B22D16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5255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62E23-D059-4AE2-917E-2855EA4C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52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c7bd4a3c747d5">
            <a:extLst>
              <a:ext uri="{96DAC541-7B7A-43D3-8B79-37D633B846F1}">
                <asvg:svgBlip xmlns:asvg="http://schemas.microsoft.com/office/drawing/2016/SVG/main" r:embed="R6ee99b110a404b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38600" y="16383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0D79B-1FEE-4086-AE79-380BB461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3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Research questions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0E925-895C-40E1-B996-C8E358AF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02_research_questions.svg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E74D5-DACC-4ABF-B47C-445F57DE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961FD-A6B1-4D81-B8B4-F56F8430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52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08af05edb4066">
            <a:extLst>
              <a:ext uri="{96DAC541-7B7A-43D3-8B79-37D633B846F1}">
                <asvg:svgBlip xmlns:asvg="http://schemas.microsoft.com/office/drawing/2016/SVG/main" r:embed="Rae5d2d11329c41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96100" y="16383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8E2D1-DBD4-42A5-B8F6-3762DC4A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Preprocessing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3B5E2-1873-4DC3-B8D7-44D89300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03_preprocessing.svg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A3FBE-1E72-4E71-9E12-AB5AB242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5255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D949A2-9B00-457F-B5D5-57772D63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5255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4c7cbb1034289">
            <a:extLst>
              <a:ext uri="{96DAC541-7B7A-43D3-8B79-37D633B846F1}">
                <asvg:svgBlip xmlns:asvg="http://schemas.microsoft.com/office/drawing/2016/SVG/main" r:embed="Rcd68acff971a4e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53600" y="163830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13944-5FAA-4FF6-B65E-2ADBAEE7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337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Feature engineering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092C2-2FC6-489E-A935-EB40ACB8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04_feature_engineering.svg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A52E6A-B623-4579-9DD6-072F4C98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C9A2F-D2AA-488D-B055-CFF2B4E9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B8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3217c6dee4397">
            <a:extLst>
              <a:ext uri="{96DAC541-7B7A-43D3-8B79-37D633B846F1}">
                <asvg:svgBlip xmlns:asvg="http://schemas.microsoft.com/office/drawing/2016/SVG/main" r:embed="Raa4ab3cde87045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81100" y="42100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2E279C-EF93-4E4A-A7BD-1BD39CD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Model training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5645CE-3639-4C98-8F2A-FABEB7C0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05_model_training.svg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EA641-2746-4E4C-9B47-C492B367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BEF06D-7277-4892-8D71-F302A522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243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A89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d8b87849f4867">
            <a:extLst>
              <a:ext uri="{96DAC541-7B7A-43D3-8B79-37D633B846F1}">
                <asvg:svgBlip xmlns:asvg="http://schemas.microsoft.com/office/drawing/2016/SVG/main" r:embed="R01c08371d9ee41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38600" y="42100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8EC52-02BA-4952-B496-43C6CF29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05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Carbon accounting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AC37D6-2424-4C2C-81B8-54AEFEA8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7150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06_carbon_accounting.svg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054944-E607-4150-8273-26037B3C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C5839D-FAD6-4B14-8C72-B590F771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E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d747fe6114f7e">
            <a:extLst>
              <a:ext uri="{96DAC541-7B7A-43D3-8B79-37D633B846F1}">
                <asvg:svgBlip xmlns:asvg="http://schemas.microsoft.com/office/drawing/2016/SVG/main" r:embed="R044ee34c78bf4b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96100" y="42100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4A56CC-67C3-44B8-8A3D-499C22D7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05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Pareto selection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C03E21-58CC-4125-97BD-BB3E919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7150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07_pareto_selection.svg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260E79-88BA-4B2C-8B92-B1F5198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2286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4584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C49F95-1F14-47AC-BC34-949DFCFB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2286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5c991cb9c4164">
            <a:extLst>
              <a:ext uri="{96DAC541-7B7A-43D3-8B79-37D633B846F1}">
                <asvg:svgBlip xmlns:asvg="http://schemas.microsoft.com/office/drawing/2016/SVG/main" r:embed="Rcf71c2673a7c47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53600" y="42100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47517B-C424-4A40-BADD-7C1560C6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0545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83D37"/>
                </a:solidFill>
                <a:latin typeface="Aptos Display"/>
                <a:ea typeface="Aptos Display"/>
                <a:cs typeface="Aptos Display"/>
              </a:rPr>
              <a:t>Report assets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14385C-51EC-4E75-8DEC-9F117731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715000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08_report_assets.svg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8292B0-A1C6-46B9-B3B8-D98BA6F4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009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6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6A"/>
                </a:solidFill>
                <a:latin typeface="Aptos"/>
                <a:ea typeface="Aptos"/>
                <a:cs typeface="Aptos"/>
              </a:rPr>
              <a:t>Tip: copy the icon object, not a screenshot. If Google Slides rasterizes on import, use the original SVG in PowerPoint or export an oversized PNG only as a fallback.</a:t>
            </a:r>
          </a:p>
        </p:txBody>
      </p:sp>
    </p:spTree>
    <p:extLst>
      <p:ext uri="{BB962C8B-B14F-4D97-AF65-F5344CB8AC3E}">
        <p14:creationId xmlns:p14="http://schemas.microsoft.com/office/powerpoint/2010/main" val="1795726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2026-06-05T10:28:05.1930000Z</dcterms:created>
  <dcterms:modified xsi:type="dcterms:W3CDTF">2026-06-05T10:28:05.1930000Z</dcterms:modified>
</coreProperties>
</file>