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160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7202A"/>
                </a:solidFill>
              </a:rPr>
              <a:t>Accuracy versus Sustainability: Carbon-Aware ML for German Power-System Load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4160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46505A"/>
                </a:solidFill>
              </a:rPr>
              <a:t>Poster Option A: Pareto frontier narrative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834640"/>
            <a:ext cx="9784080" cy="6492240"/>
          </a:xfrm>
          <a:prstGeom prst="roundRect">
            <a:avLst/>
          </a:prstGeom>
          <a:solidFill>
            <a:srgbClr val="F1FAEE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99232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493008"/>
            <a:ext cx="9326880" cy="566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Machine-learning model selection in power systems is usually optimized for accuracy. This poster reframes the choice as a multi-objective decision: predictive performance, runtime, model size, and carbon-aware deployment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9784080"/>
            <a:ext cx="9784080" cy="60350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9948672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57B9D"/>
                </a:solidFill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0442448"/>
            <a:ext cx="9326880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Open Power System Data hourly time series for Germany, 2015-2020. Target: whether German load 24 hours ahead enters the top quintile of next-day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276320"/>
            <a:ext cx="9784080" cy="6949440"/>
          </a:xfrm>
          <a:prstGeom prst="roundRect">
            <a:avLst/>
          </a:prstGeom>
          <a:solidFill>
            <a:srgbClr val="FFF8E6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6440912"/>
            <a:ext cx="9326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76F51"/>
                </a:solidFill>
              </a:rPr>
              <a:t>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934688"/>
            <a:ext cx="9326880" cy="612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A reproducible carbon-aware model ranking pipeline with five research questions, publication-ready figures, CSV result tables, and IEEE/PES reporting assets.</a:t>
            </a:r>
          </a:p>
        </p:txBody>
      </p:sp>
      <p:pic>
        <p:nvPicPr>
          <p:cNvPr id="13" name="Picture 12" descr="rq1_accuracy_carbon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2926080"/>
            <a:ext cx="18470880" cy="10789920"/>
          </a:xfrm>
          <a:prstGeom prst="rect">
            <a:avLst/>
          </a:prstGeom>
        </p:spPr>
      </p:pic>
      <p:pic>
        <p:nvPicPr>
          <p:cNvPr id="14" name="Picture 13" descr="workflow_carbon_aware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14264640"/>
            <a:ext cx="18470880" cy="8046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1455360" y="2834640"/>
            <a:ext cx="11247120" cy="466344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83960" y="299923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02A"/>
                </a:solidFill>
              </a:rPr>
              <a:t>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83960" y="3493008"/>
            <a:ext cx="107899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Chronological train/test split; logistic regression, linear SVM, random forest, histogram gradient boosting, and neural network; runtime and model-size instrumentation; residual-load carbon proxy.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55360" y="8046720"/>
            <a:ext cx="11247120" cy="4663440"/>
          </a:xfrm>
          <a:prstGeom prst="roundRect">
            <a:avLst/>
          </a:prstGeom>
          <a:solidFill>
            <a:srgbClr val="F1FAEE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683960" y="821131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Key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83960" y="8705088"/>
            <a:ext cx="107899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Pareto-efficient models are identified by maximizing F1-score while minimizing estimated training carbon. Seasonal testing checks whether rankings survive Germany's operating regimes.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455360" y="13258800"/>
            <a:ext cx="11247120" cy="4663440"/>
          </a:xfrm>
          <a:prstGeom prst="roundRect">
            <a:avLst/>
          </a:prstGeom>
          <a:solidFill>
            <a:srgbClr val="FFF8E6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83960" y="13423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76F51"/>
                </a:solidFill>
              </a:rPr>
              <a:t>Governance 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83960" y="13917168"/>
            <a:ext cx="107899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The analysis treats accuracy as one objective among several. The recommended model is the one whose marginal accuracy justifies its marginal computational and auditability burden.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455360" y="18470880"/>
            <a:ext cx="11247120" cy="4754880"/>
          </a:xfrm>
          <a:prstGeom prst="roundRect">
            <a:avLst/>
          </a:prstGeom>
          <a:solidFill>
            <a:srgbClr val="F4F3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683960" y="1863547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54A3"/>
                </a:solidFill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83960" y="19129248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For course presentation, lead with the Pareto plot and use the workflow as the credibility anchor: each artifact is reproducible from data.csv through the notebooks.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85800"/>
            <a:ext cx="41605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7202A"/>
                </a:solidFill>
              </a:rPr>
              <a:t>Accuracy versus Sustainability: Carbon-Aware ML for German Power-System Load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4160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46505A"/>
                </a:solidFill>
              </a:rPr>
              <a:t>Poster Option B: five research questions as an evidence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13350240" cy="9875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3090672"/>
            <a:ext cx="1289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RQ1: Accuracy-carbon Pareto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584448"/>
            <a:ext cx="12893040" cy="905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/>
            </a:r>
          </a:p>
        </p:txBody>
      </p:sp>
      <p:pic>
        <p:nvPicPr>
          <p:cNvPr id="7" name="Picture 6" descr="rq1_accuracy_carbon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86200"/>
            <a:ext cx="12344400" cy="8366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5544800" y="2926080"/>
            <a:ext cx="13350240" cy="9875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73400" y="3090672"/>
            <a:ext cx="1289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RQ2: Feature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73400" y="3584448"/>
            <a:ext cx="12893040" cy="905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/>
            </a:r>
          </a:p>
        </p:txBody>
      </p:sp>
      <p:pic>
        <p:nvPicPr>
          <p:cNvPr id="11" name="Picture 10" descr="rq2_feature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7720" y="3886200"/>
            <a:ext cx="12344400" cy="83667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992319" y="2926080"/>
            <a:ext cx="12801600" cy="9875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20919" y="3090672"/>
            <a:ext cx="1234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RQ3: Seasonal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20919" y="3584448"/>
            <a:ext cx="12344400" cy="9052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/>
            </a:r>
          </a:p>
        </p:txBody>
      </p:sp>
      <p:pic>
        <p:nvPicPr>
          <p:cNvPr id="15" name="Picture 14" descr="rq3_seasonal_f1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39" y="3886200"/>
            <a:ext cx="11795760" cy="83667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97280" y="13716000"/>
            <a:ext cx="20025360" cy="914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13880592"/>
            <a:ext cx="1956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RQ4: Interpretability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4374368"/>
            <a:ext cx="19568160" cy="832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/>
            </a:r>
          </a:p>
        </p:txBody>
      </p:sp>
      <p:pic>
        <p:nvPicPr>
          <p:cNvPr id="19" name="Picture 18" descr="rq4_interpretability_effici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4676120"/>
            <a:ext cx="19019519" cy="76352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2768560" y="13716000"/>
            <a:ext cx="19933920" cy="914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997160" y="13880592"/>
            <a:ext cx="1947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RQ5: Training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97160" y="14374368"/>
            <a:ext cx="19476720" cy="832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/>
            </a:r>
          </a:p>
        </p:txBody>
      </p:sp>
      <p:pic>
        <p:nvPicPr>
          <p:cNvPr id="23" name="Picture 22" descr="rq5_carbon_aware_training_windo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71480" y="14676120"/>
            <a:ext cx="18928080" cy="7635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" y="23271480"/>
            <a:ext cx="4160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46505A"/>
                </a:solidFill>
              </a:rPr>
              <a:t>PS26 Interdisciplinary Elective: AI, Power &amp;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1605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300" b="1">
                <a:solidFill>
                  <a:srgbClr val="17202A"/>
                </a:solidFill>
              </a:rPr>
              <a:t>Accuracy versus Sustainability: Carbon-Aware ML for German Power-System Load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4160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46505A"/>
                </a:solidFill>
              </a:rPr>
              <a:t>Poster Option C: responsible AI and deployment governance briefing</a:t>
            </a:r>
          </a:p>
        </p:txBody>
      </p:sp>
      <p:pic>
        <p:nvPicPr>
          <p:cNvPr id="4" name="Picture 3" descr="workflow_carbon_aware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926080"/>
            <a:ext cx="26334720" cy="13075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8529280" y="2926080"/>
            <a:ext cx="14081760" cy="4114800"/>
          </a:xfrm>
          <a:prstGeom prst="roundRect">
            <a:avLst/>
          </a:prstGeom>
          <a:solidFill>
            <a:srgbClr val="F1FAEE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757880" y="3090672"/>
            <a:ext cx="1362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Decision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57880" y="3584448"/>
            <a:ext cx="1362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Select models on a Pareto frontier: accuracy, carbon proxy, memory footprint, inference latency, and auditability must be reviewed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0" y="7589520"/>
            <a:ext cx="14081760" cy="411480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57880" y="7754112"/>
            <a:ext cx="1362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57B9D"/>
                </a:solidFill>
              </a:rPr>
              <a:t>Operational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57880" y="8247888"/>
            <a:ext cx="1362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Schedule retraining in lower residual-load windows where practicable; publish model cards that include runtime, model size, and carbon-proxy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0" y="12252960"/>
            <a:ext cx="14081760" cy="4114800"/>
          </a:xfrm>
          <a:prstGeom prst="roundRect">
            <a:avLst/>
          </a:prstGeom>
          <a:solidFill>
            <a:srgbClr val="FFF8E6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57880" y="12417552"/>
            <a:ext cx="1362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76F51"/>
                </a:solidFill>
              </a:rPr>
              <a:t>Scientific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57880" y="12911328"/>
            <a:ext cx="1362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Use chronological splits, seasonal stress tests, and feature ablations to separate real predictive value from coincidental correlations.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16733520"/>
            <a:ext cx="12984480" cy="6309360"/>
          </a:xfrm>
          <a:prstGeom prst="roundRect">
            <a:avLst/>
          </a:prstGeom>
          <a:solidFill>
            <a:srgbClr val="F4F3FF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16898112"/>
            <a:ext cx="1252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954A3"/>
                </a:solidFill>
              </a:rPr>
              <a:t>Primary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7391888"/>
            <a:ext cx="12527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The full report ranks models by carbon-adjusted score and marks Pareto-efficient candidates. This makes the final recommendation traceable rather than preference-driven.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361920" y="16733520"/>
            <a:ext cx="12984480" cy="630936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90520" y="16898112"/>
            <a:ext cx="12527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202A"/>
                </a:solidFill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90520" y="17391888"/>
            <a:ext cx="12527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The carbon estimate is a proxy based on runtime, assumed CPU power, and residual-load intensity. It should be replaced with measured hardware energy for formal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0" y="16733520"/>
            <a:ext cx="13167360" cy="6309360"/>
          </a:xfrm>
          <a:prstGeom prst="roundRect">
            <a:avLst/>
          </a:prstGeom>
          <a:solidFill>
            <a:srgbClr val="F1FAEE"/>
          </a:solidFill>
          <a:ln w="1524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72280" y="16898112"/>
            <a:ext cx="12710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9D8F"/>
                </a:solidFill>
              </a:rPr>
              <a:t>Recommended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72280" y="17391888"/>
            <a:ext cx="127101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32A32"/>
                </a:solidFill>
              </a:rPr>
              <a:t>Use this poster for a methods-and-governance oral presentation: start with the workflow, then defend the model recommendation using RQ1 and RQ5.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