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43891200" cy="246888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500" b="1"/>
            </a:pPr>
            <a:r>
              <a:t>F1 by model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F1 by model</c:v>
                </c:pt>
              </c:strCache>
            </c:strRef>
          </c:tx>
          <c:spPr>
            <a:solidFill>
              <a:srgbClr val="00897B"/>
            </a:solidFill>
          </c:spPr>
          <c:cat>
            <c:strRef>
              <c:f>Sheet1!$A$2:$A$6</c:f>
              <c:strCache>
                <c:ptCount val="5"/>
                <c:pt idx="0">
                  <c:v>HGB</c:v>
                </c:pt>
                <c:pt idx="1">
                  <c:v>NN</c:v>
                </c:pt>
                <c:pt idx="2">
                  <c:v>RF</c:v>
                </c:pt>
                <c:pt idx="3">
                  <c:v>LR</c:v>
                </c:pt>
                <c:pt idx="4">
                  <c:v>SVM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0.899</c:v>
                </c:pt>
                <c:pt idx="1">
                  <c:v>0.897</c:v>
                </c:pt>
                <c:pt idx="2">
                  <c:v>0.89</c:v>
                </c:pt>
                <c:pt idx="3">
                  <c:v>0.728</c:v>
                </c:pt>
                <c:pt idx="4">
                  <c:v>0.723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0"/>
          <c:min val="0.0"/>
        </c:scaling>
        <c:delete val="0"/>
        <c:axPos val="b"/>
        <c:majorGridlines/>
        <c:numFmt formatCode="0.0" sourceLinked="0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500" b="1"/>
            </a:pPr>
            <a:r>
              <a:t>Feature ablation F1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Feature ablation F1</c:v>
                </c:pt>
              </c:strCache>
            </c:strRef>
          </c:tx>
          <c:spPr>
            <a:solidFill>
              <a:srgbClr val="2F9E44"/>
            </a:solidFill>
          </c:spPr>
          <c:cat>
            <c:strRef>
              <c:f>Sheet1!$A$2:$A$6</c:f>
              <c:strCache>
                <c:ptCount val="5"/>
                <c:pt idx="0">
                  <c:v>Cal</c:v>
                </c:pt>
                <c:pt idx="1">
                  <c:v>+Load</c:v>
                </c:pt>
                <c:pt idx="2">
                  <c:v>+RES</c:v>
                </c:pt>
                <c:pt idx="3">
                  <c:v>+TSO</c:v>
                </c:pt>
                <c:pt idx="4">
                  <c:v>Full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0.813</c:v>
                </c:pt>
                <c:pt idx="1">
                  <c:v>0.904</c:v>
                </c:pt>
                <c:pt idx="2">
                  <c:v>0.889</c:v>
                </c:pt>
                <c:pt idx="3">
                  <c:v>0.902</c:v>
                </c:pt>
                <c:pt idx="4">
                  <c:v>0.899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0"/>
          <c:min val="0.0"/>
        </c:scaling>
        <c:delete val="0"/>
        <c:axPos val="l"/>
        <c:majorGridlines/>
        <c:numFmt formatCode="0.0" sourceLinked="0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500" b="1"/>
            </a:pPr>
            <a:r>
              <a:t>Carbon proxy (mg CO2e)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Carbon proxy (mg CO2e)</c:v>
                </c:pt>
              </c:strCache>
            </c:strRef>
          </c:tx>
          <c:spPr>
            <a:solidFill>
              <a:srgbClr val="2A6F97"/>
            </a:solidFill>
          </c:spPr>
          <c:cat>
            <c:strRef>
              <c:f>Sheet1!$A$2:$A$6</c:f>
              <c:strCache>
                <c:ptCount val="5"/>
                <c:pt idx="0">
                  <c:v>SVM</c:v>
                </c:pt>
                <c:pt idx="1">
                  <c:v>LR</c:v>
                </c:pt>
                <c:pt idx="2">
                  <c:v>HGB</c:v>
                </c:pt>
                <c:pt idx="3">
                  <c:v>RF</c:v>
                </c:pt>
                <c:pt idx="4">
                  <c:v>NN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0.37</c:v>
                </c:pt>
                <c:pt idx="1">
                  <c:v>0.23</c:v>
                </c:pt>
                <c:pt idx="2">
                  <c:v>5.69</c:v>
                </c:pt>
                <c:pt idx="3">
                  <c:v>4.71</c:v>
                </c:pt>
                <c:pt idx="4">
                  <c:v>7.07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numFmt formatCode="0" sourceLinked="0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500" b="1"/>
            </a:pPr>
            <a:r>
              <a:t>F1 by model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F1 by model</c:v>
                </c:pt>
              </c:strCache>
            </c:strRef>
          </c:tx>
          <c:spPr>
            <a:solidFill>
              <a:srgbClr val="0E8D82"/>
            </a:solidFill>
          </c:spPr>
          <c:cat>
            <c:strRef>
              <c:f>Sheet1!$A$2:$A$6</c:f>
              <c:strCache>
                <c:ptCount val="5"/>
                <c:pt idx="0">
                  <c:v>HGB</c:v>
                </c:pt>
                <c:pt idx="1">
                  <c:v>NN</c:v>
                </c:pt>
                <c:pt idx="2">
                  <c:v>RF</c:v>
                </c:pt>
                <c:pt idx="3">
                  <c:v>LR</c:v>
                </c:pt>
                <c:pt idx="4">
                  <c:v>SVM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0.899</c:v>
                </c:pt>
                <c:pt idx="1">
                  <c:v>0.897</c:v>
                </c:pt>
                <c:pt idx="2">
                  <c:v>0.89</c:v>
                </c:pt>
                <c:pt idx="3">
                  <c:v>0.728</c:v>
                </c:pt>
                <c:pt idx="4">
                  <c:v>0.723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0"/>
          <c:min val="0.0"/>
        </c:scaling>
        <c:delete val="0"/>
        <c:axPos val="b"/>
        <c:majorGridlines/>
        <c:numFmt formatCode="0.0" sourceLinked="0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500" b="1"/>
            </a:pPr>
            <a:r>
              <a:t>Feature ablation F1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Feature ablation F1</c:v>
                </c:pt>
              </c:strCache>
            </c:strRef>
          </c:tx>
          <c:spPr>
            <a:solidFill>
              <a:srgbClr val="46AE5E"/>
            </a:solidFill>
          </c:spPr>
          <c:cat>
            <c:strRef>
              <c:f>Sheet1!$A$2:$A$6</c:f>
              <c:strCache>
                <c:ptCount val="5"/>
                <c:pt idx="0">
                  <c:v>Cal</c:v>
                </c:pt>
                <c:pt idx="1">
                  <c:v>+Load</c:v>
                </c:pt>
                <c:pt idx="2">
                  <c:v>+RES</c:v>
                </c:pt>
                <c:pt idx="3">
                  <c:v>+TSO</c:v>
                </c:pt>
                <c:pt idx="4">
                  <c:v>Full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0.813</c:v>
                </c:pt>
                <c:pt idx="1">
                  <c:v>0.904</c:v>
                </c:pt>
                <c:pt idx="2">
                  <c:v>0.889</c:v>
                </c:pt>
                <c:pt idx="3">
                  <c:v>0.902</c:v>
                </c:pt>
                <c:pt idx="4">
                  <c:v>0.899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0"/>
          <c:min val="0.0"/>
        </c:scaling>
        <c:delete val="0"/>
        <c:axPos val="l"/>
        <c:majorGridlines/>
        <c:numFmt formatCode="0.0" sourceLinked="0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500" b="1"/>
            </a:pPr>
            <a:r>
              <a:t>Carbon proxy (mg CO2e)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Carbon proxy (mg CO2e)</c:v>
                </c:pt>
              </c:strCache>
            </c:strRef>
          </c:tx>
          <c:spPr>
            <a:solidFill>
              <a:srgbClr val="236792"/>
            </a:solidFill>
          </c:spPr>
          <c:cat>
            <c:strRef>
              <c:f>Sheet1!$A$2:$A$6</c:f>
              <c:strCache>
                <c:ptCount val="5"/>
                <c:pt idx="0">
                  <c:v>SVM</c:v>
                </c:pt>
                <c:pt idx="1">
                  <c:v>LR</c:v>
                </c:pt>
                <c:pt idx="2">
                  <c:v>HGB</c:v>
                </c:pt>
                <c:pt idx="3">
                  <c:v>RF</c:v>
                </c:pt>
                <c:pt idx="4">
                  <c:v>NN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0.37</c:v>
                </c:pt>
                <c:pt idx="1">
                  <c:v>0.23</c:v>
                </c:pt>
                <c:pt idx="2">
                  <c:v>5.69</c:v>
                </c:pt>
                <c:pt idx="3">
                  <c:v>4.71</c:v>
                </c:pt>
                <c:pt idx="4">
                  <c:v>7.07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numFmt formatCode="0" sourceLinked="0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500" b="1"/>
            </a:pPr>
            <a:r>
              <a:t>F1 by model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F1 by model</c:v>
                </c:pt>
              </c:strCache>
            </c:strRef>
          </c:tx>
          <c:spPr>
            <a:solidFill>
              <a:srgbClr val="008080"/>
            </a:solidFill>
          </c:spPr>
          <c:cat>
            <c:strRef>
              <c:f>Sheet1!$A$2:$A$6</c:f>
              <c:strCache>
                <c:ptCount val="5"/>
                <c:pt idx="0">
                  <c:v>HGB</c:v>
                </c:pt>
                <c:pt idx="1">
                  <c:v>NN</c:v>
                </c:pt>
                <c:pt idx="2">
                  <c:v>RF</c:v>
                </c:pt>
                <c:pt idx="3">
                  <c:v>LR</c:v>
                </c:pt>
                <c:pt idx="4">
                  <c:v>SVM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0.899</c:v>
                </c:pt>
                <c:pt idx="1">
                  <c:v>0.897</c:v>
                </c:pt>
                <c:pt idx="2">
                  <c:v>0.89</c:v>
                </c:pt>
                <c:pt idx="3">
                  <c:v>0.728</c:v>
                </c:pt>
                <c:pt idx="4">
                  <c:v>0.723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0"/>
          <c:min val="0.0"/>
        </c:scaling>
        <c:delete val="0"/>
        <c:axPos val="b"/>
        <c:majorGridlines/>
        <c:numFmt formatCode="0.0" sourceLinked="0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500" b="1"/>
            </a:pPr>
            <a:r>
              <a:t>Feature ablation F1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Feature ablation F1</c:v>
                </c:pt>
              </c:strCache>
            </c:strRef>
          </c:tx>
          <c:spPr>
            <a:solidFill>
              <a:srgbClr val="2A9D67"/>
            </a:solidFill>
          </c:spPr>
          <c:cat>
            <c:strRef>
              <c:f>Sheet1!$A$2:$A$6</c:f>
              <c:strCache>
                <c:ptCount val="5"/>
                <c:pt idx="0">
                  <c:v>Cal</c:v>
                </c:pt>
                <c:pt idx="1">
                  <c:v>+Load</c:v>
                </c:pt>
                <c:pt idx="2">
                  <c:v>+RES</c:v>
                </c:pt>
                <c:pt idx="3">
                  <c:v>+TSO</c:v>
                </c:pt>
                <c:pt idx="4">
                  <c:v>Full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0.813</c:v>
                </c:pt>
                <c:pt idx="1">
                  <c:v>0.904</c:v>
                </c:pt>
                <c:pt idx="2">
                  <c:v>0.889</c:v>
                </c:pt>
                <c:pt idx="3">
                  <c:v>0.902</c:v>
                </c:pt>
                <c:pt idx="4">
                  <c:v>0.899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0"/>
          <c:min val="0.0"/>
        </c:scaling>
        <c:delete val="0"/>
        <c:axPos val="l"/>
        <c:majorGridlines/>
        <c:numFmt formatCode="0.0" sourceLinked="0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500" b="1"/>
            </a:pPr>
            <a:r>
              <a:t>Carbon proxy (mg CO2e)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Carbon proxy (mg CO2e)</c:v>
                </c:pt>
              </c:strCache>
            </c:strRef>
          </c:tx>
          <c:spPr>
            <a:solidFill>
              <a:srgbClr val="3064A2"/>
            </a:solidFill>
          </c:spPr>
          <c:cat>
            <c:strRef>
              <c:f>Sheet1!$A$2:$A$6</c:f>
              <c:strCache>
                <c:ptCount val="5"/>
                <c:pt idx="0">
                  <c:v>SVM</c:v>
                </c:pt>
                <c:pt idx="1">
                  <c:v>LR</c:v>
                </c:pt>
                <c:pt idx="2">
                  <c:v>HGB</c:v>
                </c:pt>
                <c:pt idx="3">
                  <c:v>RF</c:v>
                </c:pt>
                <c:pt idx="4">
                  <c:v>NN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0.37</c:v>
                </c:pt>
                <c:pt idx="1">
                  <c:v>0.23</c:v>
                </c:pt>
                <c:pt idx="2">
                  <c:v>5.69</c:v>
                </c:pt>
                <c:pt idx="3">
                  <c:v>4.71</c:v>
                </c:pt>
                <c:pt idx="4">
                  <c:v>7.07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numFmt formatCode="0" sourceLinked="0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Relationship Id="rId4" Type="http://schemas.openxmlformats.org/officeDocument/2006/relationships/chart" Target="../charts/chart3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Relationship Id="rId3" Type="http://schemas.openxmlformats.org/officeDocument/2006/relationships/chart" Target="../charts/chart5.xml"/><Relationship Id="rId4" Type="http://schemas.openxmlformats.org/officeDocument/2006/relationships/chart" Target="../charts/char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Relationship Id="rId3" Type="http://schemas.openxmlformats.org/officeDocument/2006/relationships/chart" Target="../charts/chart8.xml"/><Relationship Id="rId4" Type="http://schemas.openxmlformats.org/officeDocument/2006/relationships/chart" Target="../charts/chart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C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3891200" cy="2907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0" y="274320"/>
            <a:ext cx="34747200" cy="914400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5600" b="1">
                <a:solidFill>
                  <a:srgbClr val="0E2D40"/>
                </a:solidFill>
                <a:latin typeface="Aptos Display"/>
              </a:rPr>
              <a:t>Auditing Carbon-Aware AI Model Selection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225296"/>
            <a:ext cx="34747200" cy="530352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3000" b="1">
                <a:solidFill>
                  <a:srgbClr val="0E2D40"/>
                </a:solidFill>
                <a:latin typeface="Aptos"/>
              </a:rPr>
              <a:t>Accuracy, Sustainability, Transparency and Robustness in German Power-System Analytics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0" y="1956816"/>
            <a:ext cx="34747200" cy="384048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1700" b="0">
                <a:solidFill>
                  <a:srgbClr val="596974"/>
                </a:solidFill>
                <a:latin typeface="Aptos"/>
              </a:rPr>
              <a:t>AI, Power &amp; Responsibility - Governing Intelligent Systems for Sustainability</a:t>
            </a:r>
          </a:p>
        </p:txBody>
      </p:sp>
      <p:sp>
        <p:nvSpPr>
          <p:cNvPr id="6" name="Oval 5"/>
          <p:cNvSpPr/>
          <p:nvPr/>
        </p:nvSpPr>
        <p:spPr>
          <a:xfrm>
            <a:off x="1097280" y="749808"/>
            <a:ext cx="1034186" cy="1034186"/>
          </a:xfrm>
          <a:prstGeom prst="ellipse">
            <a:avLst/>
          </a:prstGeom>
          <a:solidFill>
            <a:srgbClr val="EFF9F7"/>
          </a:solidFill>
          <a:ln w="19050">
            <a:solidFill>
              <a:srgbClr val="2A6F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88973" y="1041501"/>
            <a:ext cx="450799" cy="450799"/>
          </a:xfrm>
          <a:prstGeom prst="rect">
            <a:avLst/>
          </a:prstGeom>
          <a:solidFill>
            <a:srgbClr val="DAF4EE"/>
          </a:solidFill>
          <a:ln>
            <a:solidFill>
              <a:srgbClr val="2A6F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>
            <a:off x="1309420" y="1266901"/>
            <a:ext cx="79553" cy="0"/>
          </a:xfrm>
          <a:prstGeom prst="line">
            <a:avLst/>
          </a:prstGeom>
          <a:ln w="12700">
            <a:solidFill>
              <a:srgbClr val="2A6F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H="1">
            <a:off x="1839772" y="1266901"/>
            <a:ext cx="66294" cy="0"/>
          </a:xfrm>
          <a:prstGeom prst="line">
            <a:avLst/>
          </a:prstGeom>
          <a:ln w="12700">
            <a:solidFill>
              <a:srgbClr val="2A6F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428750" y="1134313"/>
            <a:ext cx="371246" cy="185623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797" b="1">
                <a:solidFill>
                  <a:srgbClr val="2A6F97"/>
                </a:solidFill>
                <a:latin typeface="Aptos"/>
              </a:rPr>
              <a:t>AI</a:t>
            </a:r>
          </a:p>
        </p:txBody>
      </p:sp>
      <p:sp>
        <p:nvSpPr>
          <p:cNvPr id="11" name="Oval 10"/>
          <p:cNvSpPr/>
          <p:nvPr/>
        </p:nvSpPr>
        <p:spPr>
          <a:xfrm>
            <a:off x="1920240" y="749808"/>
            <a:ext cx="1034186" cy="1034186"/>
          </a:xfrm>
          <a:prstGeom prst="ellipse">
            <a:avLst/>
          </a:prstGeom>
          <a:solidFill>
            <a:srgbClr val="EFF9F7"/>
          </a:solidFill>
          <a:ln w="19050">
            <a:solidFill>
              <a:srgbClr val="2F9E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 rot="19920000">
            <a:off x="2251710" y="1001725"/>
            <a:ext cx="477316" cy="318211"/>
          </a:xfrm>
          <a:prstGeom prst="ellipse">
            <a:avLst/>
          </a:prstGeom>
          <a:solidFill>
            <a:srgbClr val="5BB876"/>
          </a:solidFill>
          <a:ln>
            <a:solidFill>
              <a:srgbClr val="2F9E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1056560" y="749808"/>
            <a:ext cx="1034186" cy="1034186"/>
          </a:xfrm>
          <a:prstGeom prst="ellipse">
            <a:avLst/>
          </a:prstGeom>
          <a:solidFill>
            <a:srgbClr val="EFF9F7"/>
          </a:solidFill>
          <a:ln w="19050">
            <a:solidFill>
              <a:srgbClr val="2A6F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Can 13"/>
          <p:cNvSpPr/>
          <p:nvPr/>
        </p:nvSpPr>
        <p:spPr>
          <a:xfrm>
            <a:off x="41348253" y="1014983"/>
            <a:ext cx="477316" cy="556869"/>
          </a:xfrm>
          <a:prstGeom prst="can">
            <a:avLst/>
          </a:prstGeom>
          <a:solidFill>
            <a:srgbClr val="DBF0F9"/>
          </a:solidFill>
          <a:ln>
            <a:solidFill>
              <a:srgbClr val="2A6F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1879520" y="749808"/>
            <a:ext cx="1034186" cy="1034186"/>
          </a:xfrm>
          <a:prstGeom prst="ellipse">
            <a:avLst/>
          </a:prstGeom>
          <a:solidFill>
            <a:srgbClr val="EFF9F7"/>
          </a:solidFill>
          <a:ln w="19050">
            <a:solidFill>
              <a:srgbClr val="2F9E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Pentagon 15"/>
          <p:cNvSpPr/>
          <p:nvPr/>
        </p:nvSpPr>
        <p:spPr>
          <a:xfrm>
            <a:off x="42171213" y="988466"/>
            <a:ext cx="477316" cy="570128"/>
          </a:xfrm>
          <a:prstGeom prst="homePlate">
            <a:avLst/>
          </a:prstGeom>
          <a:solidFill>
            <a:srgbClr val="E8F6F0"/>
          </a:solidFill>
          <a:ln>
            <a:solidFill>
              <a:srgbClr val="2F9E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237507" y="1147572"/>
            <a:ext cx="344728" cy="159105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1160" b="1">
                <a:solidFill>
                  <a:srgbClr val="2F9E44"/>
                </a:solidFill>
                <a:latin typeface="Aptos"/>
              </a:rPr>
              <a:t>✓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" y="3310128"/>
            <a:ext cx="20299680" cy="4343400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CDDB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14400" y="3310128"/>
            <a:ext cx="20299680" cy="438912"/>
          </a:xfrm>
          <a:prstGeom prst="roundRect">
            <a:avLst/>
          </a:prstGeom>
          <a:solidFill>
            <a:srgbClr val="2F9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15568" y="3346704"/>
            <a:ext cx="502920" cy="329184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Aptos"/>
              </a:rPr>
              <a:t>01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37360" y="3374136"/>
            <a:ext cx="19293839" cy="310896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850" b="1">
                <a:solidFill>
                  <a:srgbClr val="FFFFFF"/>
                </a:solidFill>
                <a:latin typeface="Aptos"/>
              </a:rPr>
              <a:t>MOTIVATION</a:t>
            </a:r>
          </a:p>
        </p:txBody>
      </p:sp>
      <p:sp>
        <p:nvSpPr>
          <p:cNvPr id="22" name="Oval 21"/>
          <p:cNvSpPr/>
          <p:nvPr/>
        </p:nvSpPr>
        <p:spPr>
          <a:xfrm>
            <a:off x="1298448" y="4059935"/>
            <a:ext cx="342351" cy="342351"/>
          </a:xfrm>
          <a:prstGeom prst="ellipse">
            <a:avLst/>
          </a:prstGeom>
          <a:solidFill>
            <a:srgbClr val="EFF9F7"/>
          </a:solidFill>
          <a:ln w="19050">
            <a:solidFill>
              <a:srgbClr val="2F9E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 rot="19920000">
            <a:off x="1408176" y="4143329"/>
            <a:ext cx="158008" cy="105338"/>
          </a:xfrm>
          <a:prstGeom prst="ellipse">
            <a:avLst/>
          </a:prstGeom>
          <a:solidFill>
            <a:srgbClr val="5BB876"/>
          </a:solidFill>
          <a:ln>
            <a:solidFill>
              <a:srgbClr val="2F9E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801368" y="4087368"/>
            <a:ext cx="18516600" cy="310896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600" b="0">
                <a:solidFill>
                  <a:srgbClr val="0E2D40"/>
                </a:solidFill>
                <a:latin typeface="Aptos"/>
              </a:rPr>
              <a:t>Accuracy-only ML model choice hides compute and carbon costs.</a:t>
            </a:r>
          </a:p>
        </p:txBody>
      </p:sp>
      <p:sp>
        <p:nvSpPr>
          <p:cNvPr id="25" name="Oval 24"/>
          <p:cNvSpPr/>
          <p:nvPr/>
        </p:nvSpPr>
        <p:spPr>
          <a:xfrm>
            <a:off x="1298448" y="4818888"/>
            <a:ext cx="342351" cy="342351"/>
          </a:xfrm>
          <a:prstGeom prst="ellipse">
            <a:avLst/>
          </a:prstGeom>
          <a:solidFill>
            <a:srgbClr val="EFF9F7"/>
          </a:solidFill>
          <a:ln w="19050">
            <a:solidFill>
              <a:srgbClr val="2A6F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Pentagon 25"/>
          <p:cNvSpPr/>
          <p:nvPr/>
        </p:nvSpPr>
        <p:spPr>
          <a:xfrm>
            <a:off x="1395008" y="4897892"/>
            <a:ext cx="158008" cy="188732"/>
          </a:xfrm>
          <a:prstGeom prst="homePlate">
            <a:avLst/>
          </a:prstGeom>
          <a:solidFill>
            <a:srgbClr val="E8F6F0"/>
          </a:solidFill>
          <a:ln>
            <a:solidFill>
              <a:srgbClr val="2A6F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16954" y="4950561"/>
            <a:ext cx="114117" cy="52669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384" b="1">
                <a:solidFill>
                  <a:srgbClr val="2A6F97"/>
                </a:solidFill>
                <a:latin typeface="Aptos"/>
              </a:rP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01368" y="4846320"/>
            <a:ext cx="18516600" cy="310896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600" b="0">
                <a:solidFill>
                  <a:srgbClr val="0E2D40"/>
                </a:solidFill>
                <a:latin typeface="Aptos"/>
              </a:rPr>
              <a:t>German grid analytics needs robust, season-aware evidence.</a:t>
            </a:r>
          </a:p>
        </p:txBody>
      </p:sp>
      <p:sp>
        <p:nvSpPr>
          <p:cNvPr id="29" name="Oval 28"/>
          <p:cNvSpPr/>
          <p:nvPr/>
        </p:nvSpPr>
        <p:spPr>
          <a:xfrm>
            <a:off x="1298448" y="5577840"/>
            <a:ext cx="342351" cy="342351"/>
          </a:xfrm>
          <a:prstGeom prst="ellipse">
            <a:avLst/>
          </a:prstGeom>
          <a:solidFill>
            <a:srgbClr val="EFF9F7"/>
          </a:solidFill>
          <a:ln w="19050">
            <a:solidFill>
              <a:srgbClr val="2F9E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 rot="19920000">
            <a:off x="1408176" y="5661233"/>
            <a:ext cx="158008" cy="105338"/>
          </a:xfrm>
          <a:prstGeom prst="ellipse">
            <a:avLst/>
          </a:prstGeom>
          <a:solidFill>
            <a:srgbClr val="5BB876"/>
          </a:solidFill>
          <a:ln>
            <a:solidFill>
              <a:srgbClr val="2F9E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801368" y="5605272"/>
            <a:ext cx="18516600" cy="310896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600" b="0">
                <a:solidFill>
                  <a:srgbClr val="0E2D40"/>
                </a:solidFill>
                <a:latin typeface="Aptos"/>
              </a:rPr>
              <a:t>Transparent reporting should include F1, AUC, runtime and size.</a:t>
            </a:r>
          </a:p>
        </p:txBody>
      </p:sp>
      <p:sp>
        <p:nvSpPr>
          <p:cNvPr id="32" name="Oval 31"/>
          <p:cNvSpPr/>
          <p:nvPr/>
        </p:nvSpPr>
        <p:spPr>
          <a:xfrm>
            <a:off x="1298448" y="6336791"/>
            <a:ext cx="342351" cy="342351"/>
          </a:xfrm>
          <a:prstGeom prst="ellipse">
            <a:avLst/>
          </a:prstGeom>
          <a:solidFill>
            <a:srgbClr val="EFF9F7"/>
          </a:solidFill>
          <a:ln w="19050">
            <a:solidFill>
              <a:srgbClr val="2A6F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Pentagon 32"/>
          <p:cNvSpPr/>
          <p:nvPr/>
        </p:nvSpPr>
        <p:spPr>
          <a:xfrm>
            <a:off x="1395008" y="6415796"/>
            <a:ext cx="158008" cy="188732"/>
          </a:xfrm>
          <a:prstGeom prst="homePlate">
            <a:avLst/>
          </a:prstGeom>
          <a:solidFill>
            <a:srgbClr val="E8F6F0"/>
          </a:solidFill>
          <a:ln>
            <a:solidFill>
              <a:srgbClr val="2A6F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416954" y="6468465"/>
            <a:ext cx="114117" cy="52669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384" b="1">
                <a:solidFill>
                  <a:srgbClr val="2A6F97"/>
                </a:solidFill>
                <a:latin typeface="Aptos"/>
              </a:rPr>
              <a:t>✓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01368" y="6364223"/>
            <a:ext cx="18516600" cy="310896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600" b="0">
                <a:solidFill>
                  <a:srgbClr val="0E2D40"/>
                </a:solidFill>
                <a:latin typeface="Aptos"/>
              </a:rPr>
              <a:t>Carbon-aware scheduling can reduce avoidable training impact.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1945600" y="3310128"/>
            <a:ext cx="21031200" cy="4343400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CDDB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21945600" y="3310128"/>
            <a:ext cx="21031200" cy="438912"/>
          </a:xfrm>
          <a:prstGeom prst="roundRect">
            <a:avLst/>
          </a:prstGeom>
          <a:solidFill>
            <a:srgbClr val="2A6F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2146768" y="3346704"/>
            <a:ext cx="502920" cy="329184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Aptos"/>
              </a:rPr>
              <a:t>02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2768560" y="3374136"/>
            <a:ext cx="20025360" cy="310896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850" b="1">
                <a:solidFill>
                  <a:srgbClr val="FFFFFF"/>
                </a:solidFill>
                <a:latin typeface="Aptos"/>
              </a:rPr>
              <a:t>DATASETS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2357080" y="4178808"/>
            <a:ext cx="6583680" cy="2212848"/>
          </a:xfrm>
          <a:prstGeom prst="roundRect">
            <a:avLst/>
          </a:prstGeom>
          <a:solidFill>
            <a:srgbClr val="F9FDFC"/>
          </a:solidFill>
          <a:ln>
            <a:solidFill>
              <a:srgbClr val="CDDB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22585680" y="4489704"/>
            <a:ext cx="613379" cy="613379"/>
          </a:xfrm>
          <a:prstGeom prst="ellipse">
            <a:avLst/>
          </a:prstGeom>
          <a:solidFill>
            <a:srgbClr val="EFF9F7"/>
          </a:solidFill>
          <a:ln w="19050">
            <a:solidFill>
              <a:srgbClr val="2A6F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Can 41"/>
          <p:cNvSpPr/>
          <p:nvPr/>
        </p:nvSpPr>
        <p:spPr>
          <a:xfrm>
            <a:off x="22758684" y="4646980"/>
            <a:ext cx="283098" cy="330281"/>
          </a:xfrm>
          <a:prstGeom prst="can">
            <a:avLst/>
          </a:prstGeom>
          <a:solidFill>
            <a:srgbClr val="DBF0F9"/>
          </a:solidFill>
          <a:ln>
            <a:solidFill>
              <a:srgbClr val="2A6F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3344632" y="4398264"/>
            <a:ext cx="5440680" cy="457200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550" b="1">
                <a:solidFill>
                  <a:srgbClr val="0E2D40"/>
                </a:solidFill>
                <a:latin typeface="Aptos"/>
              </a:rPr>
              <a:t>OPSD Time Series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3344632" y="4937760"/>
            <a:ext cx="5440680" cy="420624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420" b="1">
                <a:solidFill>
                  <a:srgbClr val="00897B"/>
                </a:solidFill>
                <a:latin typeface="Aptos"/>
              </a:rPr>
              <a:t>~50,401 raw hourly rows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3344632" y="5422392"/>
            <a:ext cx="5440680" cy="658368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200" b="0">
                <a:solidFill>
                  <a:srgbClr val="596974"/>
                </a:solidFill>
                <a:latin typeface="Aptos"/>
              </a:rPr>
              <a:t>load, wind, solar, TSO zones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9169360" y="4178808"/>
            <a:ext cx="6583680" cy="2212848"/>
          </a:xfrm>
          <a:prstGeom prst="roundRect">
            <a:avLst/>
          </a:prstGeom>
          <a:solidFill>
            <a:srgbClr val="F9FDFC"/>
          </a:solidFill>
          <a:ln>
            <a:solidFill>
              <a:srgbClr val="CDDB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29397960" y="4489704"/>
            <a:ext cx="613379" cy="613379"/>
          </a:xfrm>
          <a:prstGeom prst="ellipse">
            <a:avLst/>
          </a:prstGeom>
          <a:solidFill>
            <a:srgbClr val="EFF9F7"/>
          </a:solidFill>
          <a:ln w="19050">
            <a:solidFill>
              <a:srgbClr val="2F9E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29570964" y="4819985"/>
            <a:ext cx="55046" cy="141549"/>
          </a:xfrm>
          <a:prstGeom prst="rect">
            <a:avLst/>
          </a:prstGeom>
          <a:solidFill>
            <a:srgbClr val="2F9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29657466" y="4725619"/>
            <a:ext cx="55046" cy="235915"/>
          </a:xfrm>
          <a:prstGeom prst="rect">
            <a:avLst/>
          </a:prstGeom>
          <a:solidFill>
            <a:srgbClr val="2F9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9743968" y="4631253"/>
            <a:ext cx="55046" cy="330281"/>
          </a:xfrm>
          <a:prstGeom prst="rect">
            <a:avLst/>
          </a:prstGeom>
          <a:solidFill>
            <a:srgbClr val="2F9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0156911" y="4398264"/>
            <a:ext cx="5440680" cy="457200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550" b="1">
                <a:solidFill>
                  <a:srgbClr val="0E2D40"/>
                </a:solidFill>
                <a:latin typeface="Aptos"/>
              </a:rPr>
              <a:t>Processed ML Table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0156911" y="4937760"/>
            <a:ext cx="5440680" cy="420624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420" b="1">
                <a:solidFill>
                  <a:srgbClr val="00897B"/>
                </a:solidFill>
                <a:latin typeface="Aptos"/>
              </a:rPr>
              <a:t>50,209 rows; 29 features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0156911" y="5422392"/>
            <a:ext cx="5440680" cy="658368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200" b="0">
                <a:solidFill>
                  <a:srgbClr val="596974"/>
                </a:solidFill>
                <a:latin typeface="Aptos"/>
              </a:rPr>
              <a:t>lags, residual-load proxy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5981640" y="4178808"/>
            <a:ext cx="6583680" cy="2212848"/>
          </a:xfrm>
          <a:prstGeom prst="roundRect">
            <a:avLst/>
          </a:prstGeom>
          <a:solidFill>
            <a:srgbClr val="F9FDFC"/>
          </a:solidFill>
          <a:ln>
            <a:solidFill>
              <a:srgbClr val="CDDB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36210240" y="4489704"/>
            <a:ext cx="613379" cy="613379"/>
          </a:xfrm>
          <a:prstGeom prst="ellipse">
            <a:avLst/>
          </a:prstGeom>
          <a:solidFill>
            <a:srgbClr val="EFF9F7"/>
          </a:solidFill>
          <a:ln w="19050">
            <a:solidFill>
              <a:srgbClr val="2A6F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Document 55"/>
          <p:cNvSpPr/>
          <p:nvPr/>
        </p:nvSpPr>
        <p:spPr>
          <a:xfrm>
            <a:off x="36391108" y="4631253"/>
            <a:ext cx="267370" cy="353872"/>
          </a:xfrm>
          <a:prstGeom prst="flowChartDocument">
            <a:avLst/>
          </a:prstGeom>
          <a:solidFill>
            <a:srgbClr val="F8FCFC"/>
          </a:solidFill>
          <a:ln>
            <a:solidFill>
              <a:srgbClr val="2A6F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6969192" y="4398264"/>
            <a:ext cx="5440680" cy="457200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550" b="1">
                <a:solidFill>
                  <a:srgbClr val="0E2D40"/>
                </a:solidFill>
                <a:latin typeface="Aptos"/>
              </a:rPr>
              <a:t>Artifacts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6969192" y="4937760"/>
            <a:ext cx="5440680" cy="420624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420" b="1">
                <a:solidFill>
                  <a:srgbClr val="00897B"/>
                </a:solidFill>
                <a:latin typeface="Aptos"/>
              </a:rPr>
              <a:t>5 notebooks; 10 figures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6969192" y="5422392"/>
            <a:ext cx="5440680" cy="658368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200" b="0">
                <a:solidFill>
                  <a:srgbClr val="596974"/>
                </a:solidFill>
                <a:latin typeface="Aptos"/>
              </a:rPr>
              <a:t>CSV tables + IEEE report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914400" y="8110728"/>
            <a:ext cx="7955279" cy="14859000"/>
          </a:xfrm>
          <a:prstGeom prst="roundRect">
            <a:avLst/>
          </a:prstGeom>
          <a:solidFill>
            <a:srgbClr val="F7FCFB"/>
          </a:solidFill>
          <a:ln w="16510">
            <a:solidFill>
              <a:srgbClr val="CDDB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914400" y="8110728"/>
            <a:ext cx="7955279" cy="438912"/>
          </a:xfrm>
          <a:prstGeom prst="round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115568" y="8147304"/>
            <a:ext cx="502920" cy="329184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Aptos"/>
              </a:rPr>
              <a:t>03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737360" y="8174736"/>
            <a:ext cx="6949440" cy="310896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850" b="1">
                <a:solidFill>
                  <a:srgbClr val="FFFFFF"/>
                </a:solidFill>
                <a:latin typeface="Aptos"/>
              </a:rPr>
              <a:t>METHODOLOGY PIPELINE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1755648" y="9582912"/>
            <a:ext cx="0" cy="12847320"/>
          </a:xfrm>
          <a:prstGeom prst="line">
            <a:avLst/>
          </a:prstGeom>
          <a:ln w="25400">
            <a:solidFill>
              <a:srgbClr val="ACC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Oval 64"/>
          <p:cNvSpPr/>
          <p:nvPr/>
        </p:nvSpPr>
        <p:spPr>
          <a:xfrm>
            <a:off x="1353312" y="9253728"/>
            <a:ext cx="748893" cy="748893"/>
          </a:xfrm>
          <a:prstGeom prst="ellipse">
            <a:avLst/>
          </a:prstGeom>
          <a:solidFill>
            <a:srgbClr val="EFF9F7"/>
          </a:solidFill>
          <a:ln w="19050">
            <a:solidFill>
              <a:srgbClr val="0089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Can 65"/>
          <p:cNvSpPr/>
          <p:nvPr/>
        </p:nvSpPr>
        <p:spPr>
          <a:xfrm>
            <a:off x="1564538" y="9445752"/>
            <a:ext cx="345643" cy="403250"/>
          </a:xfrm>
          <a:prstGeom prst="can">
            <a:avLst/>
          </a:prstGeom>
          <a:solidFill>
            <a:srgbClr val="DBF0F9"/>
          </a:solidFill>
          <a:ln>
            <a:solidFill>
              <a:srgbClr val="0089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304288" y="9272016"/>
            <a:ext cx="6355079" cy="365760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600" b="1">
                <a:solidFill>
                  <a:srgbClr val="0E2D40"/>
                </a:solidFill>
                <a:latin typeface="Aptos"/>
              </a:rPr>
              <a:t>Data collection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304288" y="9692640"/>
            <a:ext cx="6355079" cy="310896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180" b="0">
                <a:solidFill>
                  <a:srgbClr val="596974"/>
                </a:solidFill>
                <a:latin typeface="Aptos"/>
              </a:rPr>
              <a:t>OPSD hourly data</a:t>
            </a:r>
          </a:p>
        </p:txBody>
      </p:sp>
      <p:sp>
        <p:nvSpPr>
          <p:cNvPr id="69" name="Down Arrow 68"/>
          <p:cNvSpPr/>
          <p:nvPr/>
        </p:nvSpPr>
        <p:spPr>
          <a:xfrm>
            <a:off x="1627632" y="10589849"/>
            <a:ext cx="256032" cy="384048"/>
          </a:xfrm>
          <a:prstGeom prst="downArrow">
            <a:avLst/>
          </a:prstGeom>
          <a:solidFill>
            <a:srgbClr val="2F9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1353312" y="11823192"/>
            <a:ext cx="748893" cy="748893"/>
          </a:xfrm>
          <a:prstGeom prst="ellipse">
            <a:avLst/>
          </a:prstGeom>
          <a:solidFill>
            <a:srgbClr val="EFF9F7"/>
          </a:solidFill>
          <a:ln w="19050">
            <a:solidFill>
              <a:srgbClr val="2A6F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Pentagon 70"/>
          <p:cNvSpPr/>
          <p:nvPr/>
        </p:nvSpPr>
        <p:spPr>
          <a:xfrm>
            <a:off x="1564538" y="11996013"/>
            <a:ext cx="345643" cy="412851"/>
          </a:xfrm>
          <a:prstGeom prst="homePlate">
            <a:avLst/>
          </a:prstGeom>
          <a:solidFill>
            <a:srgbClr val="E8F6F0"/>
          </a:solidFill>
          <a:ln>
            <a:solidFill>
              <a:srgbClr val="2A6F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612544" y="12111228"/>
            <a:ext cx="249631" cy="115214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840" b="1">
                <a:solidFill>
                  <a:srgbClr val="2A6F97"/>
                </a:solidFill>
                <a:latin typeface="Aptos"/>
              </a:rPr>
              <a:t>✓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304288" y="11841480"/>
            <a:ext cx="6355079" cy="365760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600" b="1">
                <a:solidFill>
                  <a:srgbClr val="0E2D40"/>
                </a:solidFill>
                <a:latin typeface="Aptos"/>
              </a:rPr>
              <a:t>Preprocessing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304288" y="12262104"/>
            <a:ext cx="6355079" cy="310896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180" b="0">
                <a:solidFill>
                  <a:srgbClr val="596974"/>
                </a:solidFill>
                <a:latin typeface="Aptos"/>
              </a:rPr>
              <a:t>interpolate, align UTC</a:t>
            </a:r>
          </a:p>
        </p:txBody>
      </p:sp>
      <p:sp>
        <p:nvSpPr>
          <p:cNvPr id="75" name="Down Arrow 74"/>
          <p:cNvSpPr/>
          <p:nvPr/>
        </p:nvSpPr>
        <p:spPr>
          <a:xfrm>
            <a:off x="1627632" y="13159313"/>
            <a:ext cx="256032" cy="384048"/>
          </a:xfrm>
          <a:prstGeom prst="downArrow">
            <a:avLst/>
          </a:prstGeom>
          <a:solidFill>
            <a:srgbClr val="2F9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1353312" y="14392656"/>
            <a:ext cx="748893" cy="748893"/>
          </a:xfrm>
          <a:prstGeom prst="ellipse">
            <a:avLst/>
          </a:prstGeom>
          <a:solidFill>
            <a:srgbClr val="EFF9F7"/>
          </a:solidFill>
          <a:ln w="19050">
            <a:solidFill>
              <a:srgbClr val="0089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1564538" y="14603882"/>
            <a:ext cx="326440" cy="326440"/>
          </a:xfrm>
          <a:prstGeom prst="rect">
            <a:avLst/>
          </a:prstGeom>
          <a:solidFill>
            <a:srgbClr val="DAF4EE"/>
          </a:solidFill>
          <a:ln>
            <a:solidFill>
              <a:srgbClr val="0089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8" name="Connector 77"/>
          <p:cNvCxnSpPr/>
          <p:nvPr/>
        </p:nvCxnSpPr>
        <p:spPr>
          <a:xfrm>
            <a:off x="1506931" y="14767102"/>
            <a:ext cx="57607" cy="0"/>
          </a:xfrm>
          <a:prstGeom prst="line">
            <a:avLst/>
          </a:prstGeom>
          <a:ln w="12700">
            <a:solidFill>
              <a:srgbClr val="0089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H="1">
            <a:off x="1890979" y="14767102"/>
            <a:ext cx="48006" cy="0"/>
          </a:xfrm>
          <a:prstGeom prst="line">
            <a:avLst/>
          </a:prstGeom>
          <a:ln w="12700">
            <a:solidFill>
              <a:srgbClr val="0089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TextBox 79"/>
          <p:cNvSpPr txBox="1"/>
          <p:nvPr/>
        </p:nvSpPr>
        <p:spPr>
          <a:xfrm>
            <a:off x="1593342" y="14671090"/>
            <a:ext cx="268833" cy="134416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577" b="1">
                <a:solidFill>
                  <a:srgbClr val="00897B"/>
                </a:solidFill>
                <a:latin typeface="Aptos"/>
              </a:rPr>
              <a:t>AI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304288" y="14410944"/>
            <a:ext cx="6355079" cy="365760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600" b="1">
                <a:solidFill>
                  <a:srgbClr val="0E2D40"/>
                </a:solidFill>
                <a:latin typeface="Aptos"/>
              </a:rPr>
              <a:t>Feature engineering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304288" y="14831568"/>
            <a:ext cx="6355079" cy="310896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180" b="0">
                <a:solidFill>
                  <a:srgbClr val="596974"/>
                </a:solidFill>
                <a:latin typeface="Aptos"/>
              </a:rPr>
              <a:t>lags, RES, TSO zones</a:t>
            </a:r>
          </a:p>
        </p:txBody>
      </p:sp>
      <p:sp>
        <p:nvSpPr>
          <p:cNvPr id="83" name="Down Arrow 82"/>
          <p:cNvSpPr/>
          <p:nvPr/>
        </p:nvSpPr>
        <p:spPr>
          <a:xfrm>
            <a:off x="1627632" y="15728777"/>
            <a:ext cx="256032" cy="384048"/>
          </a:xfrm>
          <a:prstGeom prst="downArrow">
            <a:avLst/>
          </a:prstGeom>
          <a:solidFill>
            <a:srgbClr val="2F9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1353312" y="16962120"/>
            <a:ext cx="748893" cy="748893"/>
          </a:xfrm>
          <a:prstGeom prst="ellipse">
            <a:avLst/>
          </a:prstGeom>
          <a:solidFill>
            <a:srgbClr val="EFF9F7"/>
          </a:solidFill>
          <a:ln w="19050">
            <a:solidFill>
              <a:srgbClr val="2A6F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564538" y="17173346"/>
            <a:ext cx="326440" cy="326440"/>
          </a:xfrm>
          <a:prstGeom prst="rect">
            <a:avLst/>
          </a:prstGeom>
          <a:solidFill>
            <a:srgbClr val="DAF4EE"/>
          </a:solidFill>
          <a:ln>
            <a:solidFill>
              <a:srgbClr val="2A6F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6" name="Connector 85"/>
          <p:cNvCxnSpPr/>
          <p:nvPr/>
        </p:nvCxnSpPr>
        <p:spPr>
          <a:xfrm>
            <a:off x="1506931" y="17336566"/>
            <a:ext cx="57607" cy="0"/>
          </a:xfrm>
          <a:prstGeom prst="line">
            <a:avLst/>
          </a:prstGeom>
          <a:ln w="12700">
            <a:solidFill>
              <a:srgbClr val="2A6F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H="1">
            <a:off x="1890979" y="17336566"/>
            <a:ext cx="48006" cy="0"/>
          </a:xfrm>
          <a:prstGeom prst="line">
            <a:avLst/>
          </a:prstGeom>
          <a:ln w="12700">
            <a:solidFill>
              <a:srgbClr val="2A6F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TextBox 87"/>
          <p:cNvSpPr txBox="1"/>
          <p:nvPr/>
        </p:nvSpPr>
        <p:spPr>
          <a:xfrm>
            <a:off x="1593342" y="17240554"/>
            <a:ext cx="268833" cy="134416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577" b="1">
                <a:solidFill>
                  <a:srgbClr val="2A6F97"/>
                </a:solidFill>
                <a:latin typeface="Aptos"/>
              </a:rPr>
              <a:t>AI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304288" y="16980408"/>
            <a:ext cx="6355079" cy="365760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600" b="1">
                <a:solidFill>
                  <a:srgbClr val="0E2D40"/>
                </a:solidFill>
                <a:latin typeface="Aptos"/>
              </a:rPr>
              <a:t>Modeling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304288" y="17401032"/>
            <a:ext cx="6355079" cy="310896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180" b="0">
                <a:solidFill>
                  <a:srgbClr val="596974"/>
                </a:solidFill>
                <a:latin typeface="Aptos"/>
              </a:rPr>
              <a:t>LR, SVM, RF, HGB, NN</a:t>
            </a:r>
          </a:p>
        </p:txBody>
      </p:sp>
      <p:sp>
        <p:nvSpPr>
          <p:cNvPr id="91" name="Down Arrow 90"/>
          <p:cNvSpPr/>
          <p:nvPr/>
        </p:nvSpPr>
        <p:spPr>
          <a:xfrm>
            <a:off x="1627632" y="18298241"/>
            <a:ext cx="256032" cy="384048"/>
          </a:xfrm>
          <a:prstGeom prst="downArrow">
            <a:avLst/>
          </a:prstGeom>
          <a:solidFill>
            <a:srgbClr val="2F9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1353312" y="19531584"/>
            <a:ext cx="748893" cy="748893"/>
          </a:xfrm>
          <a:prstGeom prst="ellipse">
            <a:avLst/>
          </a:prstGeom>
          <a:solidFill>
            <a:srgbClr val="EFF9F7"/>
          </a:solidFill>
          <a:ln w="19050">
            <a:solidFill>
              <a:srgbClr val="0089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564538" y="19934834"/>
            <a:ext cx="67208" cy="172821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670151" y="19819620"/>
            <a:ext cx="67208" cy="288036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775764" y="19704405"/>
            <a:ext cx="67208" cy="403250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2304288" y="19549872"/>
            <a:ext cx="6355079" cy="365760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600" b="1">
                <a:solidFill>
                  <a:srgbClr val="0E2D40"/>
                </a:solidFill>
                <a:latin typeface="Aptos"/>
              </a:rPr>
              <a:t>Evaluation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2304288" y="19970496"/>
            <a:ext cx="6355079" cy="310896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180" b="0">
                <a:solidFill>
                  <a:srgbClr val="596974"/>
                </a:solidFill>
                <a:latin typeface="Aptos"/>
              </a:rPr>
              <a:t>F1, AUC, runtime</a:t>
            </a:r>
          </a:p>
        </p:txBody>
      </p:sp>
      <p:sp>
        <p:nvSpPr>
          <p:cNvPr id="98" name="Down Arrow 97"/>
          <p:cNvSpPr/>
          <p:nvPr/>
        </p:nvSpPr>
        <p:spPr>
          <a:xfrm>
            <a:off x="1627632" y="20867705"/>
            <a:ext cx="256032" cy="384048"/>
          </a:xfrm>
          <a:prstGeom prst="downArrow">
            <a:avLst/>
          </a:prstGeom>
          <a:solidFill>
            <a:srgbClr val="2F9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1353312" y="22101048"/>
            <a:ext cx="748893" cy="748893"/>
          </a:xfrm>
          <a:prstGeom prst="ellipse">
            <a:avLst/>
          </a:prstGeom>
          <a:solidFill>
            <a:srgbClr val="EFF9F7"/>
          </a:solidFill>
          <a:ln w="19050">
            <a:solidFill>
              <a:srgbClr val="2A6F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 rot="19920000">
            <a:off x="1593342" y="22283470"/>
            <a:ext cx="345643" cy="230428"/>
          </a:xfrm>
          <a:prstGeom prst="ellipse">
            <a:avLst/>
          </a:prstGeom>
          <a:solidFill>
            <a:srgbClr val="5BB876"/>
          </a:solidFill>
          <a:ln>
            <a:solidFill>
              <a:srgbClr val="2A6F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2304288" y="22119336"/>
            <a:ext cx="6355079" cy="365760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600" b="1">
                <a:solidFill>
                  <a:srgbClr val="0E2D40"/>
                </a:solidFill>
                <a:latin typeface="Aptos"/>
              </a:rPr>
              <a:t>Insights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2304288" y="22539960"/>
            <a:ext cx="6355079" cy="310896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180" b="0">
                <a:solidFill>
                  <a:srgbClr val="596974"/>
                </a:solidFill>
                <a:latin typeface="Aptos"/>
              </a:rPr>
              <a:t>Pareto + guidance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9372600" y="8110728"/>
            <a:ext cx="11795760" cy="6766560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CDDB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ounded Rectangle 103"/>
          <p:cNvSpPr/>
          <p:nvPr/>
        </p:nvSpPr>
        <p:spPr>
          <a:xfrm>
            <a:off x="9372600" y="8110728"/>
            <a:ext cx="11795760" cy="438912"/>
          </a:xfrm>
          <a:prstGeom prst="round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9573768" y="8147304"/>
            <a:ext cx="502920" cy="329184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Aptos"/>
              </a:rPr>
              <a:t>04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195560" y="8174736"/>
            <a:ext cx="10789920" cy="310896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850" b="1">
                <a:solidFill>
                  <a:srgbClr val="FFFFFF"/>
                </a:solidFill>
                <a:latin typeface="Aptos"/>
              </a:rPr>
              <a:t>RESEARCH QUESTIONS</a:t>
            </a:r>
          </a:p>
        </p:txBody>
      </p:sp>
      <p:sp>
        <p:nvSpPr>
          <p:cNvPr id="107" name="Oval 106"/>
          <p:cNvSpPr/>
          <p:nvPr/>
        </p:nvSpPr>
        <p:spPr>
          <a:xfrm>
            <a:off x="9811512" y="8915400"/>
            <a:ext cx="438912" cy="438912"/>
          </a:xfrm>
          <a:prstGeom prst="ellipse">
            <a:avLst/>
          </a:prstGeom>
          <a:solidFill>
            <a:srgbClr val="2F9E44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9811512" y="8954902"/>
            <a:ext cx="438912" cy="254568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135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415016" y="8942832"/>
            <a:ext cx="10131552" cy="402336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500" b="0">
                <a:solidFill>
                  <a:srgbClr val="0E2D40"/>
                </a:solidFill>
                <a:latin typeface="Aptos"/>
              </a:rPr>
              <a:t>Which model is Pareto-efficient?</a:t>
            </a:r>
          </a:p>
        </p:txBody>
      </p:sp>
      <p:sp>
        <p:nvSpPr>
          <p:cNvPr id="110" name="Oval 109"/>
          <p:cNvSpPr/>
          <p:nvPr/>
        </p:nvSpPr>
        <p:spPr>
          <a:xfrm>
            <a:off x="9811512" y="9665208"/>
            <a:ext cx="438912" cy="438912"/>
          </a:xfrm>
          <a:prstGeom prst="ellipse">
            <a:avLst/>
          </a:prstGeom>
          <a:solidFill>
            <a:srgbClr val="2F9E44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9811512" y="9704710"/>
            <a:ext cx="438912" cy="254568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135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0415016" y="9692640"/>
            <a:ext cx="10131552" cy="402336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500" b="0">
                <a:solidFill>
                  <a:srgbClr val="0E2D40"/>
                </a:solidFill>
                <a:latin typeface="Aptos"/>
              </a:rPr>
              <a:t>Which feature families add value?</a:t>
            </a:r>
          </a:p>
        </p:txBody>
      </p:sp>
      <p:sp>
        <p:nvSpPr>
          <p:cNvPr id="113" name="Oval 112"/>
          <p:cNvSpPr/>
          <p:nvPr/>
        </p:nvSpPr>
        <p:spPr>
          <a:xfrm>
            <a:off x="9811512" y="10415016"/>
            <a:ext cx="438912" cy="438912"/>
          </a:xfrm>
          <a:prstGeom prst="ellipse">
            <a:avLst/>
          </a:prstGeom>
          <a:solidFill>
            <a:srgbClr val="2F9E44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9811512" y="10454518"/>
            <a:ext cx="438912" cy="254568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135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415016" y="10442448"/>
            <a:ext cx="10131552" cy="402336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500" b="0">
                <a:solidFill>
                  <a:srgbClr val="0E2D40"/>
                </a:solidFill>
                <a:latin typeface="Aptos"/>
              </a:rPr>
              <a:t>Are rankings seasonally stable?</a:t>
            </a:r>
          </a:p>
        </p:txBody>
      </p:sp>
      <p:sp>
        <p:nvSpPr>
          <p:cNvPr id="116" name="Oval 115"/>
          <p:cNvSpPr/>
          <p:nvPr/>
        </p:nvSpPr>
        <p:spPr>
          <a:xfrm>
            <a:off x="9811512" y="11164824"/>
            <a:ext cx="438912" cy="438912"/>
          </a:xfrm>
          <a:prstGeom prst="ellipse">
            <a:avLst/>
          </a:prstGeom>
          <a:solidFill>
            <a:srgbClr val="2F9E44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9811512" y="11204326"/>
            <a:ext cx="438912" cy="254568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135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0415016" y="11192256"/>
            <a:ext cx="10131552" cy="402336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500" b="0">
                <a:solidFill>
                  <a:srgbClr val="0E2D40"/>
                </a:solidFill>
                <a:latin typeface="Aptos"/>
              </a:rPr>
              <a:t>Can simple models explain drivers?</a:t>
            </a:r>
          </a:p>
        </p:txBody>
      </p:sp>
      <p:sp>
        <p:nvSpPr>
          <p:cNvPr id="119" name="Oval 118"/>
          <p:cNvSpPr/>
          <p:nvPr/>
        </p:nvSpPr>
        <p:spPr>
          <a:xfrm>
            <a:off x="9811512" y="11914632"/>
            <a:ext cx="438912" cy="438912"/>
          </a:xfrm>
          <a:prstGeom prst="ellipse">
            <a:avLst/>
          </a:prstGeom>
          <a:solidFill>
            <a:srgbClr val="2F9E44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9811512" y="11954134"/>
            <a:ext cx="438912" cy="254568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135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415016" y="11942064"/>
            <a:ext cx="10131552" cy="402336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500" b="0">
                <a:solidFill>
                  <a:srgbClr val="0E2D40"/>
                </a:solidFill>
                <a:latin typeface="Aptos"/>
              </a:rPr>
              <a:t>Do green training windows help?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21762720" y="8110728"/>
            <a:ext cx="21214080" cy="9601200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CDDB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ounded Rectangle 122"/>
          <p:cNvSpPr/>
          <p:nvPr/>
        </p:nvSpPr>
        <p:spPr>
          <a:xfrm>
            <a:off x="21762720" y="8110728"/>
            <a:ext cx="21214080" cy="438912"/>
          </a:xfrm>
          <a:prstGeom prst="roundRect">
            <a:avLst/>
          </a:prstGeom>
          <a:solidFill>
            <a:srgbClr val="2A6F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21963888" y="8147304"/>
            <a:ext cx="502920" cy="329184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Aptos"/>
              </a:rPr>
              <a:t>05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22585680" y="8174736"/>
            <a:ext cx="20208239" cy="310896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850" b="1">
                <a:solidFill>
                  <a:srgbClr val="FFFFFF"/>
                </a:solidFill>
                <a:latin typeface="Aptos"/>
              </a:rPr>
              <a:t>KEY RESULTS (HIGHLIGHTS)</a:t>
            </a:r>
          </a:p>
        </p:txBody>
      </p:sp>
      <p:graphicFrame>
        <p:nvGraphicFramePr>
          <p:cNvPr id="126" name="Chart 125"/>
          <p:cNvGraphicFramePr>
            <a:graphicFrameLocks noGrp="1"/>
          </p:cNvGraphicFramePr>
          <p:nvPr/>
        </p:nvGraphicFramePr>
        <p:xfrm>
          <a:off x="22265640" y="8869680"/>
          <a:ext cx="9295790" cy="3479749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27" name="Chart 126"/>
          <p:cNvGraphicFramePr>
            <a:graphicFrameLocks noGrp="1"/>
          </p:cNvGraphicFramePr>
          <p:nvPr/>
        </p:nvGraphicFramePr>
        <p:xfrm>
          <a:off x="32369760" y="8869680"/>
          <a:ext cx="9699955" cy="3479749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128" name="Chart 127"/>
          <p:cNvGraphicFramePr>
            <a:graphicFrameLocks noGrp="1"/>
          </p:cNvGraphicFramePr>
          <p:nvPr/>
        </p:nvGraphicFramePr>
        <p:xfrm>
          <a:off x="22265640" y="12915900"/>
          <a:ext cx="9295790" cy="3398824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29" name="TextBox 128"/>
          <p:cNvSpPr txBox="1"/>
          <p:nvPr/>
        </p:nvSpPr>
        <p:spPr>
          <a:xfrm>
            <a:off x="33380172" y="13320522"/>
            <a:ext cx="3233318" cy="457200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3600" b="1">
                <a:solidFill>
                  <a:srgbClr val="2F9E44"/>
                </a:solidFill>
                <a:latin typeface="Aptos"/>
              </a:rPr>
              <a:t>31.9%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33380172" y="13887450"/>
            <a:ext cx="3233318" cy="438912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1320" b="0">
                <a:solidFill>
                  <a:srgbClr val="596974"/>
                </a:solidFill>
                <a:latin typeface="Aptos"/>
              </a:rPr>
              <a:t>green-window reduction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6815572" y="13320522"/>
            <a:ext cx="2627071" cy="457200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3600" b="1">
                <a:solidFill>
                  <a:srgbClr val="00897B"/>
                </a:solidFill>
                <a:latin typeface="Aptos"/>
              </a:rPr>
              <a:t>0.899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6815572" y="13887450"/>
            <a:ext cx="2627071" cy="438912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1320" b="0">
                <a:solidFill>
                  <a:srgbClr val="596974"/>
                </a:solidFill>
                <a:latin typeface="Aptos"/>
              </a:rPr>
              <a:t>best F1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9442644" y="13320522"/>
            <a:ext cx="2424988" cy="457200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3600" b="1">
                <a:solidFill>
                  <a:srgbClr val="2A6F97"/>
                </a:solidFill>
                <a:latin typeface="Aptos"/>
              </a:rPr>
              <a:t>0.993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9442644" y="13887450"/>
            <a:ext cx="2424988" cy="438912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1320" b="0">
                <a:solidFill>
                  <a:srgbClr val="596974"/>
                </a:solidFill>
                <a:latin typeface="Aptos"/>
              </a:rPr>
              <a:t>ROC-AUC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32773924" y="15181783"/>
            <a:ext cx="8891625" cy="841248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1450" b="1">
                <a:solidFill>
                  <a:srgbClr val="0E2D40"/>
                </a:solidFill>
                <a:latin typeface="Aptos"/>
              </a:rPr>
              <a:t>HGB is the balanced recommendation; Linear SVM is the lowest-compute fallback.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9372600" y="15334488"/>
            <a:ext cx="11795760" cy="4892040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CDDB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ounded Rectangle 136"/>
          <p:cNvSpPr/>
          <p:nvPr/>
        </p:nvSpPr>
        <p:spPr>
          <a:xfrm>
            <a:off x="9372600" y="15334488"/>
            <a:ext cx="11795760" cy="438912"/>
          </a:xfrm>
          <a:prstGeom prst="roundRect">
            <a:avLst/>
          </a:prstGeom>
          <a:solidFill>
            <a:srgbClr val="2F9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9573768" y="15371064"/>
            <a:ext cx="502920" cy="329184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Aptos"/>
              </a:rPr>
              <a:t>06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0195560" y="15398496"/>
            <a:ext cx="10789920" cy="310896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850" b="1">
                <a:solidFill>
                  <a:srgbClr val="FFFFFF"/>
                </a:solidFill>
                <a:latin typeface="Aptos"/>
              </a:rPr>
              <a:t>KEY FINDINGS</a:t>
            </a:r>
          </a:p>
        </p:txBody>
      </p:sp>
      <p:sp>
        <p:nvSpPr>
          <p:cNvPr id="140" name="Oval 139"/>
          <p:cNvSpPr/>
          <p:nvPr/>
        </p:nvSpPr>
        <p:spPr>
          <a:xfrm>
            <a:off x="9811512" y="16084296"/>
            <a:ext cx="342351" cy="342351"/>
          </a:xfrm>
          <a:prstGeom prst="ellipse">
            <a:avLst/>
          </a:prstGeom>
          <a:solidFill>
            <a:srgbClr val="EFF9F7"/>
          </a:solidFill>
          <a:ln w="19050">
            <a:solidFill>
              <a:srgbClr val="2F9E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Pentagon 140"/>
          <p:cNvSpPr/>
          <p:nvPr/>
        </p:nvSpPr>
        <p:spPr>
          <a:xfrm>
            <a:off x="9908072" y="16163300"/>
            <a:ext cx="158008" cy="188732"/>
          </a:xfrm>
          <a:prstGeom prst="homePlate">
            <a:avLst/>
          </a:prstGeom>
          <a:solidFill>
            <a:srgbClr val="E8F6F0"/>
          </a:solidFill>
          <a:ln>
            <a:solidFill>
              <a:srgbClr val="2F9E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9930018" y="16215969"/>
            <a:ext cx="114117" cy="52669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384" b="1">
                <a:solidFill>
                  <a:srgbClr val="2F9E44"/>
                </a:solidFill>
                <a:latin typeface="Aptos"/>
              </a:rPr>
              <a:t>✓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0314432" y="16111728"/>
            <a:ext cx="10287000" cy="310896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400" b="0">
                <a:solidFill>
                  <a:srgbClr val="0E2D40"/>
                </a:solidFill>
                <a:latin typeface="Aptos"/>
              </a:rPr>
              <a:t>HGB: best F1 and Pareto-efficient.</a:t>
            </a:r>
          </a:p>
        </p:txBody>
      </p:sp>
      <p:sp>
        <p:nvSpPr>
          <p:cNvPr id="144" name="Oval 143"/>
          <p:cNvSpPr/>
          <p:nvPr/>
        </p:nvSpPr>
        <p:spPr>
          <a:xfrm>
            <a:off x="9811512" y="16770096"/>
            <a:ext cx="342351" cy="342351"/>
          </a:xfrm>
          <a:prstGeom prst="ellipse">
            <a:avLst/>
          </a:prstGeom>
          <a:solidFill>
            <a:srgbClr val="EFF9F7"/>
          </a:solidFill>
          <a:ln w="19050">
            <a:solidFill>
              <a:srgbClr val="2A6F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Pentagon 144"/>
          <p:cNvSpPr/>
          <p:nvPr/>
        </p:nvSpPr>
        <p:spPr>
          <a:xfrm>
            <a:off x="9908072" y="16849100"/>
            <a:ext cx="158008" cy="188732"/>
          </a:xfrm>
          <a:prstGeom prst="homePlate">
            <a:avLst/>
          </a:prstGeom>
          <a:solidFill>
            <a:srgbClr val="E8F6F0"/>
          </a:solidFill>
          <a:ln>
            <a:solidFill>
              <a:srgbClr val="2A6F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9930018" y="16901769"/>
            <a:ext cx="114117" cy="52669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384" b="1">
                <a:solidFill>
                  <a:srgbClr val="2A6F97"/>
                </a:solidFill>
                <a:latin typeface="Aptos"/>
              </a:rPr>
              <a:t>✓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0314432" y="16797528"/>
            <a:ext cx="10287000" cy="310896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400" b="0">
                <a:solidFill>
                  <a:srgbClr val="0E2D40"/>
                </a:solidFill>
                <a:latin typeface="Aptos"/>
              </a:rPr>
              <a:t>Load history gives the largest feature gain.</a:t>
            </a:r>
          </a:p>
        </p:txBody>
      </p:sp>
      <p:sp>
        <p:nvSpPr>
          <p:cNvPr id="148" name="Oval 147"/>
          <p:cNvSpPr/>
          <p:nvPr/>
        </p:nvSpPr>
        <p:spPr>
          <a:xfrm>
            <a:off x="9811512" y="17455896"/>
            <a:ext cx="342351" cy="342351"/>
          </a:xfrm>
          <a:prstGeom prst="ellipse">
            <a:avLst/>
          </a:prstGeom>
          <a:solidFill>
            <a:srgbClr val="EFF9F7"/>
          </a:solidFill>
          <a:ln w="19050">
            <a:solidFill>
              <a:srgbClr val="2F9E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Pentagon 148"/>
          <p:cNvSpPr/>
          <p:nvPr/>
        </p:nvSpPr>
        <p:spPr>
          <a:xfrm>
            <a:off x="9908072" y="17534900"/>
            <a:ext cx="158008" cy="188732"/>
          </a:xfrm>
          <a:prstGeom prst="homePlate">
            <a:avLst/>
          </a:prstGeom>
          <a:solidFill>
            <a:srgbClr val="E8F6F0"/>
          </a:solidFill>
          <a:ln>
            <a:solidFill>
              <a:srgbClr val="2F9E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9930018" y="17587569"/>
            <a:ext cx="114117" cy="52669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384" b="1">
                <a:solidFill>
                  <a:srgbClr val="2F9E44"/>
                </a:solidFill>
                <a:latin typeface="Aptos"/>
              </a:rPr>
              <a:t>✓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0314432" y="17483328"/>
            <a:ext cx="10287000" cy="310896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400" b="0">
                <a:solidFill>
                  <a:srgbClr val="0E2D40"/>
                </a:solidFill>
                <a:latin typeface="Aptos"/>
              </a:rPr>
              <a:t>Summer is the hardest seasonal regime.</a:t>
            </a:r>
          </a:p>
        </p:txBody>
      </p:sp>
      <p:sp>
        <p:nvSpPr>
          <p:cNvPr id="152" name="Oval 151"/>
          <p:cNvSpPr/>
          <p:nvPr/>
        </p:nvSpPr>
        <p:spPr>
          <a:xfrm>
            <a:off x="9811512" y="18141696"/>
            <a:ext cx="342351" cy="342351"/>
          </a:xfrm>
          <a:prstGeom prst="ellipse">
            <a:avLst/>
          </a:prstGeom>
          <a:solidFill>
            <a:srgbClr val="EFF9F7"/>
          </a:solidFill>
          <a:ln w="19050">
            <a:solidFill>
              <a:srgbClr val="2A6F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Pentagon 152"/>
          <p:cNvSpPr/>
          <p:nvPr/>
        </p:nvSpPr>
        <p:spPr>
          <a:xfrm>
            <a:off x="9908072" y="18220700"/>
            <a:ext cx="158008" cy="188732"/>
          </a:xfrm>
          <a:prstGeom prst="homePlate">
            <a:avLst/>
          </a:prstGeom>
          <a:solidFill>
            <a:srgbClr val="E8F6F0"/>
          </a:solidFill>
          <a:ln>
            <a:solidFill>
              <a:srgbClr val="2A6F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9930018" y="18273369"/>
            <a:ext cx="114117" cy="52669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384" b="1">
                <a:solidFill>
                  <a:srgbClr val="2A6F97"/>
                </a:solidFill>
                <a:latin typeface="Aptos"/>
              </a:rPr>
              <a:t>✓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0314432" y="18169128"/>
            <a:ext cx="10287000" cy="310896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400" b="0">
                <a:solidFill>
                  <a:srgbClr val="0E2D40"/>
                </a:solidFill>
                <a:latin typeface="Aptos"/>
              </a:rPr>
              <a:t>Use low-compute baselines for auditability.</a:t>
            </a:r>
          </a:p>
        </p:txBody>
      </p:sp>
      <p:sp>
        <p:nvSpPr>
          <p:cNvPr id="156" name="Rounded Rectangle 155"/>
          <p:cNvSpPr/>
          <p:nvPr/>
        </p:nvSpPr>
        <p:spPr>
          <a:xfrm>
            <a:off x="21762720" y="18169128"/>
            <a:ext cx="21214080" cy="4800600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CDDB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ounded Rectangle 156"/>
          <p:cNvSpPr/>
          <p:nvPr/>
        </p:nvSpPr>
        <p:spPr>
          <a:xfrm>
            <a:off x="21762720" y="18169128"/>
            <a:ext cx="21214080" cy="438912"/>
          </a:xfrm>
          <a:prstGeom prst="round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21963888" y="18205704"/>
            <a:ext cx="502920" cy="329184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Aptos"/>
              </a:rPr>
              <a:t>07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22585680" y="18233136"/>
            <a:ext cx="20208239" cy="310896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850" b="1">
                <a:solidFill>
                  <a:srgbClr val="FFFFFF"/>
                </a:solidFill>
                <a:latin typeface="Aptos"/>
              </a:rPr>
              <a:t>CONCLUSION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22265640" y="18918936"/>
            <a:ext cx="20116800" cy="1170432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1800" b="1">
                <a:solidFill>
                  <a:srgbClr val="0E2D40"/>
                </a:solidFill>
                <a:latin typeface="Aptos"/>
              </a:rPr>
              <a:t>Responsible model selection should be Pareto-based: accuracy, carbon proxy, runtime, model size, seasonal robustness and auditability are evaluated together.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22448520" y="20500848"/>
            <a:ext cx="19659600" cy="932688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1350" b="0">
                <a:solidFill>
                  <a:srgbClr val="596974"/>
                </a:solidFill>
                <a:latin typeface="Aptos"/>
              </a:rPr>
              <a:t>Recommended balanced model: Histogram Gradient Boosting. Recommended low-compute fallback: Linear SVM. Next step: replace proxy energy with measured hardware power.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0" y="24003000"/>
            <a:ext cx="43891200" cy="685800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1005840" y="24112728"/>
            <a:ext cx="40965120" cy="310896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Aptos"/>
              </a:rPr>
              <a:t>Dataset: Open Power System Data Time Series (2020-10-06) | Reproducible notebooks, figures, tables, workflow, and IEEE/PES report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3891200" cy="3154680"/>
          </a:xfrm>
          <a:prstGeom prst="rect">
            <a:avLst/>
          </a:prstGeom>
          <a:solidFill>
            <a:srgbClr val="0220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0" y="274320"/>
            <a:ext cx="34747200" cy="914400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5600" b="1">
                <a:solidFill>
                  <a:srgbClr val="FFFFFF"/>
                </a:solidFill>
                <a:latin typeface="Aptos Display"/>
              </a:rPr>
              <a:t>Auditing Carbon-Aware AI Model Selection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225296"/>
            <a:ext cx="34747200" cy="530352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  <a:latin typeface="Aptos"/>
              </a:rPr>
              <a:t>Accuracy, Sustainability, Transparency and Robustness in German Power-System Analytics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0" y="1956816"/>
            <a:ext cx="34747200" cy="384048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1700" b="0">
                <a:solidFill>
                  <a:srgbClr val="C8E6DA"/>
                </a:solidFill>
                <a:latin typeface="Aptos"/>
              </a:rPr>
              <a:t>AI, Power &amp; Responsibility - Governing Intelligent Systems for Sustainability</a:t>
            </a:r>
          </a:p>
        </p:txBody>
      </p:sp>
      <p:sp>
        <p:nvSpPr>
          <p:cNvPr id="6" name="Oval 5"/>
          <p:cNvSpPr/>
          <p:nvPr/>
        </p:nvSpPr>
        <p:spPr>
          <a:xfrm>
            <a:off x="1097280" y="896112"/>
            <a:ext cx="1034186" cy="1034186"/>
          </a:xfrm>
          <a:prstGeom prst="ellipse">
            <a:avLst/>
          </a:prstGeom>
          <a:solidFill>
            <a:srgbClr val="EFF9F7"/>
          </a:solidFill>
          <a:ln w="19050">
            <a:solidFill>
              <a:srgbClr val="2367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88973" y="1187805"/>
            <a:ext cx="450799" cy="450799"/>
          </a:xfrm>
          <a:prstGeom prst="rect">
            <a:avLst/>
          </a:prstGeom>
          <a:solidFill>
            <a:srgbClr val="DAF4EE"/>
          </a:solidFill>
          <a:ln>
            <a:solidFill>
              <a:srgbClr val="2367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>
            <a:off x="1309420" y="1413205"/>
            <a:ext cx="79553" cy="0"/>
          </a:xfrm>
          <a:prstGeom prst="line">
            <a:avLst/>
          </a:prstGeom>
          <a:ln w="12700">
            <a:solidFill>
              <a:srgbClr val="2367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H="1">
            <a:off x="1839772" y="1413205"/>
            <a:ext cx="66294" cy="0"/>
          </a:xfrm>
          <a:prstGeom prst="line">
            <a:avLst/>
          </a:prstGeom>
          <a:ln w="12700">
            <a:solidFill>
              <a:srgbClr val="2367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428750" y="1280617"/>
            <a:ext cx="371246" cy="185623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797" b="1">
                <a:solidFill>
                  <a:srgbClr val="236792"/>
                </a:solidFill>
                <a:latin typeface="Aptos"/>
              </a:rPr>
              <a:t>AI</a:t>
            </a:r>
          </a:p>
        </p:txBody>
      </p:sp>
      <p:sp>
        <p:nvSpPr>
          <p:cNvPr id="11" name="Oval 10"/>
          <p:cNvSpPr/>
          <p:nvPr/>
        </p:nvSpPr>
        <p:spPr>
          <a:xfrm>
            <a:off x="1920240" y="896112"/>
            <a:ext cx="1034186" cy="1034186"/>
          </a:xfrm>
          <a:prstGeom prst="ellipse">
            <a:avLst/>
          </a:prstGeom>
          <a:solidFill>
            <a:srgbClr val="EFF9F7"/>
          </a:solidFill>
          <a:ln w="19050">
            <a:solidFill>
              <a:srgbClr val="46AE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 rot="19920000">
            <a:off x="2251710" y="1148029"/>
            <a:ext cx="477316" cy="318211"/>
          </a:xfrm>
          <a:prstGeom prst="ellipse">
            <a:avLst/>
          </a:prstGeom>
          <a:solidFill>
            <a:srgbClr val="5BB876"/>
          </a:solidFill>
          <a:ln>
            <a:solidFill>
              <a:srgbClr val="46AE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1056560" y="896112"/>
            <a:ext cx="1034186" cy="1034186"/>
          </a:xfrm>
          <a:prstGeom prst="ellipse">
            <a:avLst/>
          </a:prstGeom>
          <a:solidFill>
            <a:srgbClr val="EFF9F7"/>
          </a:solidFill>
          <a:ln w="19050">
            <a:solidFill>
              <a:srgbClr val="2367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Can 13"/>
          <p:cNvSpPr/>
          <p:nvPr/>
        </p:nvSpPr>
        <p:spPr>
          <a:xfrm>
            <a:off x="41348253" y="1161288"/>
            <a:ext cx="477316" cy="556869"/>
          </a:xfrm>
          <a:prstGeom prst="can">
            <a:avLst/>
          </a:prstGeom>
          <a:solidFill>
            <a:srgbClr val="DBF0F9"/>
          </a:solidFill>
          <a:ln>
            <a:solidFill>
              <a:srgbClr val="2367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1879520" y="896112"/>
            <a:ext cx="1034186" cy="1034186"/>
          </a:xfrm>
          <a:prstGeom prst="ellipse">
            <a:avLst/>
          </a:prstGeom>
          <a:solidFill>
            <a:srgbClr val="EFF9F7"/>
          </a:solidFill>
          <a:ln w="19050">
            <a:solidFill>
              <a:srgbClr val="46AE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Pentagon 15"/>
          <p:cNvSpPr/>
          <p:nvPr/>
        </p:nvSpPr>
        <p:spPr>
          <a:xfrm>
            <a:off x="42171213" y="1134770"/>
            <a:ext cx="477316" cy="570128"/>
          </a:xfrm>
          <a:prstGeom prst="homePlate">
            <a:avLst/>
          </a:prstGeom>
          <a:solidFill>
            <a:srgbClr val="E8F6F0"/>
          </a:solidFill>
          <a:ln>
            <a:solidFill>
              <a:srgbClr val="46AE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237507" y="1293876"/>
            <a:ext cx="344728" cy="159105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1160" b="1">
                <a:solidFill>
                  <a:srgbClr val="46AE5E"/>
                </a:solidFill>
                <a:latin typeface="Aptos"/>
              </a:rPr>
              <a:t>✓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" y="3529584"/>
            <a:ext cx="20299680" cy="4343400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BED1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14400" y="3529584"/>
            <a:ext cx="20299680" cy="438912"/>
          </a:xfrm>
          <a:prstGeom prst="roundRect">
            <a:avLst/>
          </a:prstGeom>
          <a:solidFill>
            <a:srgbClr val="0E8D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15568" y="3566160"/>
            <a:ext cx="502920" cy="329184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Aptos"/>
              </a:rPr>
              <a:t>01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37360" y="3593591"/>
            <a:ext cx="19293839" cy="310896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850" b="1">
                <a:solidFill>
                  <a:srgbClr val="FFFFFF"/>
                </a:solidFill>
                <a:latin typeface="Aptos"/>
              </a:rPr>
              <a:t>MOTIVATION</a:t>
            </a:r>
          </a:p>
        </p:txBody>
      </p:sp>
      <p:sp>
        <p:nvSpPr>
          <p:cNvPr id="22" name="Oval 21"/>
          <p:cNvSpPr/>
          <p:nvPr/>
        </p:nvSpPr>
        <p:spPr>
          <a:xfrm>
            <a:off x="1298448" y="4279392"/>
            <a:ext cx="342351" cy="342351"/>
          </a:xfrm>
          <a:prstGeom prst="ellipse">
            <a:avLst/>
          </a:prstGeom>
          <a:solidFill>
            <a:srgbClr val="EFF9F7"/>
          </a:solidFill>
          <a:ln w="19050">
            <a:solidFill>
              <a:srgbClr val="46AE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 rot="19920000">
            <a:off x="1408176" y="4362785"/>
            <a:ext cx="158008" cy="105338"/>
          </a:xfrm>
          <a:prstGeom prst="ellipse">
            <a:avLst/>
          </a:prstGeom>
          <a:solidFill>
            <a:srgbClr val="5BB876"/>
          </a:solidFill>
          <a:ln>
            <a:solidFill>
              <a:srgbClr val="46AE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801368" y="4306824"/>
            <a:ext cx="18516600" cy="310896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600" b="0">
                <a:solidFill>
                  <a:srgbClr val="081F2C"/>
                </a:solidFill>
                <a:latin typeface="Aptos"/>
              </a:rPr>
              <a:t>Accuracy-only ML model choice hides compute and carbon costs.</a:t>
            </a:r>
          </a:p>
        </p:txBody>
      </p:sp>
      <p:sp>
        <p:nvSpPr>
          <p:cNvPr id="25" name="Oval 24"/>
          <p:cNvSpPr/>
          <p:nvPr/>
        </p:nvSpPr>
        <p:spPr>
          <a:xfrm>
            <a:off x="1298448" y="5038344"/>
            <a:ext cx="342351" cy="342351"/>
          </a:xfrm>
          <a:prstGeom prst="ellipse">
            <a:avLst/>
          </a:prstGeom>
          <a:solidFill>
            <a:srgbClr val="EFF9F7"/>
          </a:solidFill>
          <a:ln w="19050">
            <a:solidFill>
              <a:srgbClr val="2367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Pentagon 25"/>
          <p:cNvSpPr/>
          <p:nvPr/>
        </p:nvSpPr>
        <p:spPr>
          <a:xfrm>
            <a:off x="1395008" y="5117348"/>
            <a:ext cx="158008" cy="188732"/>
          </a:xfrm>
          <a:prstGeom prst="homePlate">
            <a:avLst/>
          </a:prstGeom>
          <a:solidFill>
            <a:srgbClr val="E8F6F0"/>
          </a:solidFill>
          <a:ln>
            <a:solidFill>
              <a:srgbClr val="2367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16954" y="5170017"/>
            <a:ext cx="114117" cy="52669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384" b="1">
                <a:solidFill>
                  <a:srgbClr val="236792"/>
                </a:solidFill>
                <a:latin typeface="Aptos"/>
              </a:rP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01368" y="5065776"/>
            <a:ext cx="18516600" cy="310896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600" b="0">
                <a:solidFill>
                  <a:srgbClr val="081F2C"/>
                </a:solidFill>
                <a:latin typeface="Aptos"/>
              </a:rPr>
              <a:t>German grid analytics needs robust, season-aware evidence.</a:t>
            </a:r>
          </a:p>
        </p:txBody>
      </p:sp>
      <p:sp>
        <p:nvSpPr>
          <p:cNvPr id="29" name="Oval 28"/>
          <p:cNvSpPr/>
          <p:nvPr/>
        </p:nvSpPr>
        <p:spPr>
          <a:xfrm>
            <a:off x="1298448" y="5797296"/>
            <a:ext cx="342351" cy="342351"/>
          </a:xfrm>
          <a:prstGeom prst="ellipse">
            <a:avLst/>
          </a:prstGeom>
          <a:solidFill>
            <a:srgbClr val="EFF9F7"/>
          </a:solidFill>
          <a:ln w="19050">
            <a:solidFill>
              <a:srgbClr val="46AE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 rot="19920000">
            <a:off x="1408176" y="5880689"/>
            <a:ext cx="158008" cy="105338"/>
          </a:xfrm>
          <a:prstGeom prst="ellipse">
            <a:avLst/>
          </a:prstGeom>
          <a:solidFill>
            <a:srgbClr val="5BB876"/>
          </a:solidFill>
          <a:ln>
            <a:solidFill>
              <a:srgbClr val="46AE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801368" y="5824728"/>
            <a:ext cx="18516600" cy="310896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600" b="0">
                <a:solidFill>
                  <a:srgbClr val="081F2C"/>
                </a:solidFill>
                <a:latin typeface="Aptos"/>
              </a:rPr>
              <a:t>Transparent reporting should include F1, AUC, runtime and size.</a:t>
            </a:r>
          </a:p>
        </p:txBody>
      </p:sp>
      <p:sp>
        <p:nvSpPr>
          <p:cNvPr id="32" name="Oval 31"/>
          <p:cNvSpPr/>
          <p:nvPr/>
        </p:nvSpPr>
        <p:spPr>
          <a:xfrm>
            <a:off x="1298448" y="6556247"/>
            <a:ext cx="342351" cy="342351"/>
          </a:xfrm>
          <a:prstGeom prst="ellipse">
            <a:avLst/>
          </a:prstGeom>
          <a:solidFill>
            <a:srgbClr val="EFF9F7"/>
          </a:solidFill>
          <a:ln w="19050">
            <a:solidFill>
              <a:srgbClr val="2367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Pentagon 32"/>
          <p:cNvSpPr/>
          <p:nvPr/>
        </p:nvSpPr>
        <p:spPr>
          <a:xfrm>
            <a:off x="1395008" y="6635252"/>
            <a:ext cx="158008" cy="188732"/>
          </a:xfrm>
          <a:prstGeom prst="homePlate">
            <a:avLst/>
          </a:prstGeom>
          <a:solidFill>
            <a:srgbClr val="E8F6F0"/>
          </a:solidFill>
          <a:ln>
            <a:solidFill>
              <a:srgbClr val="2367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416954" y="6687921"/>
            <a:ext cx="114117" cy="52669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384" b="1">
                <a:solidFill>
                  <a:srgbClr val="236792"/>
                </a:solidFill>
                <a:latin typeface="Aptos"/>
              </a:rPr>
              <a:t>✓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01368" y="6583679"/>
            <a:ext cx="18516600" cy="310896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600" b="0">
                <a:solidFill>
                  <a:srgbClr val="081F2C"/>
                </a:solidFill>
                <a:latin typeface="Aptos"/>
              </a:rPr>
              <a:t>Carbon-aware scheduling can reduce avoidable training impact.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1945600" y="3529584"/>
            <a:ext cx="21031200" cy="4343400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BED1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21945600" y="3529584"/>
            <a:ext cx="21031200" cy="438912"/>
          </a:xfrm>
          <a:prstGeom prst="roundRect">
            <a:avLst/>
          </a:prstGeom>
          <a:solidFill>
            <a:srgbClr val="2367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2146768" y="3566160"/>
            <a:ext cx="502920" cy="329184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Aptos"/>
              </a:rPr>
              <a:t>02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2768560" y="3593591"/>
            <a:ext cx="20025360" cy="310896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850" b="1">
                <a:solidFill>
                  <a:srgbClr val="FFFFFF"/>
                </a:solidFill>
                <a:latin typeface="Aptos"/>
              </a:rPr>
              <a:t>DATASETS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2357080" y="4398264"/>
            <a:ext cx="6583680" cy="2212848"/>
          </a:xfrm>
          <a:prstGeom prst="roundRect">
            <a:avLst/>
          </a:prstGeom>
          <a:solidFill>
            <a:srgbClr val="F9FDFC"/>
          </a:solidFill>
          <a:ln>
            <a:solidFill>
              <a:srgbClr val="BED1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22585680" y="4709159"/>
            <a:ext cx="613379" cy="613379"/>
          </a:xfrm>
          <a:prstGeom prst="ellipse">
            <a:avLst/>
          </a:prstGeom>
          <a:solidFill>
            <a:srgbClr val="EFF9F7"/>
          </a:solidFill>
          <a:ln w="19050">
            <a:solidFill>
              <a:srgbClr val="2367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Can 41"/>
          <p:cNvSpPr/>
          <p:nvPr/>
        </p:nvSpPr>
        <p:spPr>
          <a:xfrm>
            <a:off x="22758684" y="4866436"/>
            <a:ext cx="283098" cy="330281"/>
          </a:xfrm>
          <a:prstGeom prst="can">
            <a:avLst/>
          </a:prstGeom>
          <a:solidFill>
            <a:srgbClr val="DBF0F9"/>
          </a:solidFill>
          <a:ln>
            <a:solidFill>
              <a:srgbClr val="2367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3344632" y="4617720"/>
            <a:ext cx="5440680" cy="457200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550" b="1">
                <a:solidFill>
                  <a:srgbClr val="081F2C"/>
                </a:solidFill>
                <a:latin typeface="Aptos"/>
              </a:rPr>
              <a:t>OPSD Time Series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3344632" y="5157216"/>
            <a:ext cx="5440680" cy="420624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420" b="1">
                <a:solidFill>
                  <a:srgbClr val="0E8D82"/>
                </a:solidFill>
                <a:latin typeface="Aptos"/>
              </a:rPr>
              <a:t>~50,401 raw hourly rows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3344632" y="5641848"/>
            <a:ext cx="5440680" cy="658368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200" b="0">
                <a:solidFill>
                  <a:srgbClr val="51606C"/>
                </a:solidFill>
                <a:latin typeface="Aptos"/>
              </a:rPr>
              <a:t>load, wind, solar, TSO zones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9169360" y="4398264"/>
            <a:ext cx="6583680" cy="2212848"/>
          </a:xfrm>
          <a:prstGeom prst="roundRect">
            <a:avLst/>
          </a:prstGeom>
          <a:solidFill>
            <a:srgbClr val="F9FDFC"/>
          </a:solidFill>
          <a:ln>
            <a:solidFill>
              <a:srgbClr val="BED1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29397960" y="4709159"/>
            <a:ext cx="613379" cy="613379"/>
          </a:xfrm>
          <a:prstGeom prst="ellipse">
            <a:avLst/>
          </a:prstGeom>
          <a:solidFill>
            <a:srgbClr val="EFF9F7"/>
          </a:solidFill>
          <a:ln w="19050">
            <a:solidFill>
              <a:srgbClr val="46AE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29570964" y="5039441"/>
            <a:ext cx="55046" cy="141549"/>
          </a:xfrm>
          <a:prstGeom prst="rect">
            <a:avLst/>
          </a:prstGeom>
          <a:solidFill>
            <a:srgbClr val="46A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29657466" y="4945075"/>
            <a:ext cx="55046" cy="235915"/>
          </a:xfrm>
          <a:prstGeom prst="rect">
            <a:avLst/>
          </a:prstGeom>
          <a:solidFill>
            <a:srgbClr val="46A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9743968" y="4850709"/>
            <a:ext cx="55046" cy="330281"/>
          </a:xfrm>
          <a:prstGeom prst="rect">
            <a:avLst/>
          </a:prstGeom>
          <a:solidFill>
            <a:srgbClr val="46A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0156911" y="4617720"/>
            <a:ext cx="5440680" cy="457200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550" b="1">
                <a:solidFill>
                  <a:srgbClr val="081F2C"/>
                </a:solidFill>
                <a:latin typeface="Aptos"/>
              </a:rPr>
              <a:t>Processed ML Table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0156911" y="5157216"/>
            <a:ext cx="5440680" cy="420624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420" b="1">
                <a:solidFill>
                  <a:srgbClr val="0E8D82"/>
                </a:solidFill>
                <a:latin typeface="Aptos"/>
              </a:rPr>
              <a:t>50,209 rows; 29 features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0156911" y="5641848"/>
            <a:ext cx="5440680" cy="658368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200" b="0">
                <a:solidFill>
                  <a:srgbClr val="51606C"/>
                </a:solidFill>
                <a:latin typeface="Aptos"/>
              </a:rPr>
              <a:t>lags, residual-load proxy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5981640" y="4398264"/>
            <a:ext cx="6583680" cy="2212848"/>
          </a:xfrm>
          <a:prstGeom prst="roundRect">
            <a:avLst/>
          </a:prstGeom>
          <a:solidFill>
            <a:srgbClr val="F9FDFC"/>
          </a:solidFill>
          <a:ln>
            <a:solidFill>
              <a:srgbClr val="BED1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36210240" y="4709159"/>
            <a:ext cx="613379" cy="613379"/>
          </a:xfrm>
          <a:prstGeom prst="ellipse">
            <a:avLst/>
          </a:prstGeom>
          <a:solidFill>
            <a:srgbClr val="EFF9F7"/>
          </a:solidFill>
          <a:ln w="19050">
            <a:solidFill>
              <a:srgbClr val="2367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Document 55"/>
          <p:cNvSpPr/>
          <p:nvPr/>
        </p:nvSpPr>
        <p:spPr>
          <a:xfrm>
            <a:off x="36391108" y="4850709"/>
            <a:ext cx="267370" cy="353872"/>
          </a:xfrm>
          <a:prstGeom prst="flowChartDocument">
            <a:avLst/>
          </a:prstGeom>
          <a:solidFill>
            <a:srgbClr val="F8FCFC"/>
          </a:solidFill>
          <a:ln>
            <a:solidFill>
              <a:srgbClr val="2367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6969192" y="4617720"/>
            <a:ext cx="5440680" cy="457200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550" b="1">
                <a:solidFill>
                  <a:srgbClr val="081F2C"/>
                </a:solidFill>
                <a:latin typeface="Aptos"/>
              </a:rPr>
              <a:t>Artifacts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6969192" y="5157216"/>
            <a:ext cx="5440680" cy="420624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420" b="1">
                <a:solidFill>
                  <a:srgbClr val="0E8D82"/>
                </a:solidFill>
                <a:latin typeface="Aptos"/>
              </a:rPr>
              <a:t>5 notebooks; 10 figures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6969192" y="5641848"/>
            <a:ext cx="5440680" cy="658368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200" b="0">
                <a:solidFill>
                  <a:srgbClr val="51606C"/>
                </a:solidFill>
                <a:latin typeface="Aptos"/>
              </a:rPr>
              <a:t>CSV tables + IEEE report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914400" y="8330183"/>
            <a:ext cx="7955279" cy="14859000"/>
          </a:xfrm>
          <a:prstGeom prst="roundRect">
            <a:avLst/>
          </a:prstGeom>
          <a:solidFill>
            <a:srgbClr val="F7FCFB"/>
          </a:solidFill>
          <a:ln w="16510">
            <a:solidFill>
              <a:srgbClr val="BED1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914400" y="8330183"/>
            <a:ext cx="7955279" cy="438912"/>
          </a:xfrm>
          <a:prstGeom prst="roundRect">
            <a:avLst/>
          </a:prstGeom>
          <a:solidFill>
            <a:srgbClr val="0E8D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115568" y="8366759"/>
            <a:ext cx="502920" cy="329184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Aptos"/>
              </a:rPr>
              <a:t>03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737360" y="8394192"/>
            <a:ext cx="6949440" cy="310896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850" b="1">
                <a:solidFill>
                  <a:srgbClr val="FFFFFF"/>
                </a:solidFill>
                <a:latin typeface="Aptos"/>
              </a:rPr>
              <a:t>METHODOLOGY PIPELINE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1755648" y="9802367"/>
            <a:ext cx="0" cy="12847321"/>
          </a:xfrm>
          <a:prstGeom prst="line">
            <a:avLst/>
          </a:prstGeom>
          <a:ln w="25400">
            <a:solidFill>
              <a:srgbClr val="ACC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Oval 64"/>
          <p:cNvSpPr/>
          <p:nvPr/>
        </p:nvSpPr>
        <p:spPr>
          <a:xfrm>
            <a:off x="1353312" y="9473184"/>
            <a:ext cx="748893" cy="748893"/>
          </a:xfrm>
          <a:prstGeom prst="ellipse">
            <a:avLst/>
          </a:prstGeom>
          <a:solidFill>
            <a:srgbClr val="EFF9F7"/>
          </a:solidFill>
          <a:ln w="19050">
            <a:solidFill>
              <a:srgbClr val="0E8D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Can 65"/>
          <p:cNvSpPr/>
          <p:nvPr/>
        </p:nvSpPr>
        <p:spPr>
          <a:xfrm>
            <a:off x="1564538" y="9665208"/>
            <a:ext cx="345643" cy="403250"/>
          </a:xfrm>
          <a:prstGeom prst="can">
            <a:avLst/>
          </a:prstGeom>
          <a:solidFill>
            <a:srgbClr val="DBF0F9"/>
          </a:solidFill>
          <a:ln>
            <a:solidFill>
              <a:srgbClr val="0E8D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304288" y="9491472"/>
            <a:ext cx="6355079" cy="365760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600" b="1">
                <a:solidFill>
                  <a:srgbClr val="081F2C"/>
                </a:solidFill>
                <a:latin typeface="Aptos"/>
              </a:rPr>
              <a:t>Data collection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304288" y="9912096"/>
            <a:ext cx="6355079" cy="310896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180" b="0">
                <a:solidFill>
                  <a:srgbClr val="51606C"/>
                </a:solidFill>
                <a:latin typeface="Aptos"/>
              </a:rPr>
              <a:t>OPSD hourly data</a:t>
            </a:r>
          </a:p>
        </p:txBody>
      </p:sp>
      <p:sp>
        <p:nvSpPr>
          <p:cNvPr id="69" name="Down Arrow 68"/>
          <p:cNvSpPr/>
          <p:nvPr/>
        </p:nvSpPr>
        <p:spPr>
          <a:xfrm>
            <a:off x="1627632" y="10809305"/>
            <a:ext cx="256032" cy="384048"/>
          </a:xfrm>
          <a:prstGeom prst="downArrow">
            <a:avLst/>
          </a:prstGeom>
          <a:solidFill>
            <a:srgbClr val="46A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1353312" y="12042648"/>
            <a:ext cx="748893" cy="748893"/>
          </a:xfrm>
          <a:prstGeom prst="ellipse">
            <a:avLst/>
          </a:prstGeom>
          <a:solidFill>
            <a:srgbClr val="EFF9F7"/>
          </a:solidFill>
          <a:ln w="19050">
            <a:solidFill>
              <a:srgbClr val="2367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Pentagon 70"/>
          <p:cNvSpPr/>
          <p:nvPr/>
        </p:nvSpPr>
        <p:spPr>
          <a:xfrm>
            <a:off x="1564538" y="12215469"/>
            <a:ext cx="345643" cy="412851"/>
          </a:xfrm>
          <a:prstGeom prst="homePlate">
            <a:avLst/>
          </a:prstGeom>
          <a:solidFill>
            <a:srgbClr val="E8F6F0"/>
          </a:solidFill>
          <a:ln>
            <a:solidFill>
              <a:srgbClr val="2367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612544" y="12330684"/>
            <a:ext cx="249631" cy="115214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840" b="1">
                <a:solidFill>
                  <a:srgbClr val="236792"/>
                </a:solidFill>
                <a:latin typeface="Aptos"/>
              </a:rPr>
              <a:t>✓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304288" y="12060936"/>
            <a:ext cx="6355079" cy="365760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600" b="1">
                <a:solidFill>
                  <a:srgbClr val="081F2C"/>
                </a:solidFill>
                <a:latin typeface="Aptos"/>
              </a:rPr>
              <a:t>Preprocessing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304288" y="12481560"/>
            <a:ext cx="6355079" cy="310896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180" b="0">
                <a:solidFill>
                  <a:srgbClr val="51606C"/>
                </a:solidFill>
                <a:latin typeface="Aptos"/>
              </a:rPr>
              <a:t>interpolate, align UTC</a:t>
            </a:r>
          </a:p>
        </p:txBody>
      </p:sp>
      <p:sp>
        <p:nvSpPr>
          <p:cNvPr id="75" name="Down Arrow 74"/>
          <p:cNvSpPr/>
          <p:nvPr/>
        </p:nvSpPr>
        <p:spPr>
          <a:xfrm>
            <a:off x="1627632" y="13378769"/>
            <a:ext cx="256032" cy="384048"/>
          </a:xfrm>
          <a:prstGeom prst="downArrow">
            <a:avLst/>
          </a:prstGeom>
          <a:solidFill>
            <a:srgbClr val="46A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1353312" y="14612112"/>
            <a:ext cx="748893" cy="748893"/>
          </a:xfrm>
          <a:prstGeom prst="ellipse">
            <a:avLst/>
          </a:prstGeom>
          <a:solidFill>
            <a:srgbClr val="EFF9F7"/>
          </a:solidFill>
          <a:ln w="19050">
            <a:solidFill>
              <a:srgbClr val="0E8D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1564538" y="14823338"/>
            <a:ext cx="326440" cy="326440"/>
          </a:xfrm>
          <a:prstGeom prst="rect">
            <a:avLst/>
          </a:prstGeom>
          <a:solidFill>
            <a:srgbClr val="DAF4EE"/>
          </a:solidFill>
          <a:ln>
            <a:solidFill>
              <a:srgbClr val="0E8D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8" name="Connector 77"/>
          <p:cNvCxnSpPr/>
          <p:nvPr/>
        </p:nvCxnSpPr>
        <p:spPr>
          <a:xfrm>
            <a:off x="1506931" y="14986558"/>
            <a:ext cx="57607" cy="0"/>
          </a:xfrm>
          <a:prstGeom prst="line">
            <a:avLst/>
          </a:prstGeom>
          <a:ln w="12700">
            <a:solidFill>
              <a:srgbClr val="0E8D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H="1">
            <a:off x="1890979" y="14986558"/>
            <a:ext cx="48006" cy="0"/>
          </a:xfrm>
          <a:prstGeom prst="line">
            <a:avLst/>
          </a:prstGeom>
          <a:ln w="12700">
            <a:solidFill>
              <a:srgbClr val="0E8D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TextBox 79"/>
          <p:cNvSpPr txBox="1"/>
          <p:nvPr/>
        </p:nvSpPr>
        <p:spPr>
          <a:xfrm>
            <a:off x="1593342" y="14890546"/>
            <a:ext cx="268833" cy="134416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577" b="1">
                <a:solidFill>
                  <a:srgbClr val="0E8D82"/>
                </a:solidFill>
                <a:latin typeface="Aptos"/>
              </a:rPr>
              <a:t>AI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304288" y="14630400"/>
            <a:ext cx="6355079" cy="365760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600" b="1">
                <a:solidFill>
                  <a:srgbClr val="081F2C"/>
                </a:solidFill>
                <a:latin typeface="Aptos"/>
              </a:rPr>
              <a:t>Feature engineering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304288" y="15051024"/>
            <a:ext cx="6355079" cy="310896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180" b="0">
                <a:solidFill>
                  <a:srgbClr val="51606C"/>
                </a:solidFill>
                <a:latin typeface="Aptos"/>
              </a:rPr>
              <a:t>lags, RES, TSO zones</a:t>
            </a:r>
          </a:p>
        </p:txBody>
      </p:sp>
      <p:sp>
        <p:nvSpPr>
          <p:cNvPr id="83" name="Down Arrow 82"/>
          <p:cNvSpPr/>
          <p:nvPr/>
        </p:nvSpPr>
        <p:spPr>
          <a:xfrm>
            <a:off x="1627632" y="15948233"/>
            <a:ext cx="256032" cy="384048"/>
          </a:xfrm>
          <a:prstGeom prst="downArrow">
            <a:avLst/>
          </a:prstGeom>
          <a:solidFill>
            <a:srgbClr val="46A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1353312" y="17181576"/>
            <a:ext cx="748893" cy="748893"/>
          </a:xfrm>
          <a:prstGeom prst="ellipse">
            <a:avLst/>
          </a:prstGeom>
          <a:solidFill>
            <a:srgbClr val="EFF9F7"/>
          </a:solidFill>
          <a:ln w="19050">
            <a:solidFill>
              <a:srgbClr val="2367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564538" y="17392802"/>
            <a:ext cx="326440" cy="326440"/>
          </a:xfrm>
          <a:prstGeom prst="rect">
            <a:avLst/>
          </a:prstGeom>
          <a:solidFill>
            <a:srgbClr val="DAF4EE"/>
          </a:solidFill>
          <a:ln>
            <a:solidFill>
              <a:srgbClr val="2367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6" name="Connector 85"/>
          <p:cNvCxnSpPr/>
          <p:nvPr/>
        </p:nvCxnSpPr>
        <p:spPr>
          <a:xfrm>
            <a:off x="1506931" y="17556022"/>
            <a:ext cx="57607" cy="0"/>
          </a:xfrm>
          <a:prstGeom prst="line">
            <a:avLst/>
          </a:prstGeom>
          <a:ln w="12700">
            <a:solidFill>
              <a:srgbClr val="2367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H="1">
            <a:off x="1890979" y="17556022"/>
            <a:ext cx="48006" cy="0"/>
          </a:xfrm>
          <a:prstGeom prst="line">
            <a:avLst/>
          </a:prstGeom>
          <a:ln w="12700">
            <a:solidFill>
              <a:srgbClr val="2367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TextBox 87"/>
          <p:cNvSpPr txBox="1"/>
          <p:nvPr/>
        </p:nvSpPr>
        <p:spPr>
          <a:xfrm>
            <a:off x="1593342" y="17460010"/>
            <a:ext cx="268833" cy="134416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577" b="1">
                <a:solidFill>
                  <a:srgbClr val="236792"/>
                </a:solidFill>
                <a:latin typeface="Aptos"/>
              </a:rPr>
              <a:t>AI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304288" y="17199864"/>
            <a:ext cx="6355079" cy="365760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600" b="1">
                <a:solidFill>
                  <a:srgbClr val="081F2C"/>
                </a:solidFill>
                <a:latin typeface="Aptos"/>
              </a:rPr>
              <a:t>Modeling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304288" y="17620488"/>
            <a:ext cx="6355079" cy="310896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180" b="0">
                <a:solidFill>
                  <a:srgbClr val="51606C"/>
                </a:solidFill>
                <a:latin typeface="Aptos"/>
              </a:rPr>
              <a:t>LR, SVM, RF, HGB, NN</a:t>
            </a:r>
          </a:p>
        </p:txBody>
      </p:sp>
      <p:sp>
        <p:nvSpPr>
          <p:cNvPr id="91" name="Down Arrow 90"/>
          <p:cNvSpPr/>
          <p:nvPr/>
        </p:nvSpPr>
        <p:spPr>
          <a:xfrm>
            <a:off x="1627632" y="18517697"/>
            <a:ext cx="256032" cy="384048"/>
          </a:xfrm>
          <a:prstGeom prst="downArrow">
            <a:avLst/>
          </a:prstGeom>
          <a:solidFill>
            <a:srgbClr val="46A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1353312" y="19751040"/>
            <a:ext cx="748893" cy="748893"/>
          </a:xfrm>
          <a:prstGeom prst="ellipse">
            <a:avLst/>
          </a:prstGeom>
          <a:solidFill>
            <a:srgbClr val="EFF9F7"/>
          </a:solidFill>
          <a:ln w="19050">
            <a:solidFill>
              <a:srgbClr val="0E8D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564538" y="20154290"/>
            <a:ext cx="67208" cy="172821"/>
          </a:xfrm>
          <a:prstGeom prst="rect">
            <a:avLst/>
          </a:prstGeom>
          <a:solidFill>
            <a:srgbClr val="0E8D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670151" y="20039076"/>
            <a:ext cx="67208" cy="288036"/>
          </a:xfrm>
          <a:prstGeom prst="rect">
            <a:avLst/>
          </a:prstGeom>
          <a:solidFill>
            <a:srgbClr val="0E8D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775764" y="19923861"/>
            <a:ext cx="67208" cy="403250"/>
          </a:xfrm>
          <a:prstGeom prst="rect">
            <a:avLst/>
          </a:prstGeom>
          <a:solidFill>
            <a:srgbClr val="0E8D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2304288" y="19769328"/>
            <a:ext cx="6355079" cy="365760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600" b="1">
                <a:solidFill>
                  <a:srgbClr val="081F2C"/>
                </a:solidFill>
                <a:latin typeface="Aptos"/>
              </a:rPr>
              <a:t>Evaluation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2304288" y="20189952"/>
            <a:ext cx="6355079" cy="310896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180" b="0">
                <a:solidFill>
                  <a:srgbClr val="51606C"/>
                </a:solidFill>
                <a:latin typeface="Aptos"/>
              </a:rPr>
              <a:t>F1, AUC, runtime</a:t>
            </a:r>
          </a:p>
        </p:txBody>
      </p:sp>
      <p:sp>
        <p:nvSpPr>
          <p:cNvPr id="98" name="Down Arrow 97"/>
          <p:cNvSpPr/>
          <p:nvPr/>
        </p:nvSpPr>
        <p:spPr>
          <a:xfrm>
            <a:off x="1627632" y="21087161"/>
            <a:ext cx="256032" cy="384048"/>
          </a:xfrm>
          <a:prstGeom prst="downArrow">
            <a:avLst/>
          </a:prstGeom>
          <a:solidFill>
            <a:srgbClr val="46A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1353312" y="22320504"/>
            <a:ext cx="748893" cy="748893"/>
          </a:xfrm>
          <a:prstGeom prst="ellipse">
            <a:avLst/>
          </a:prstGeom>
          <a:solidFill>
            <a:srgbClr val="EFF9F7"/>
          </a:solidFill>
          <a:ln w="19050">
            <a:solidFill>
              <a:srgbClr val="2367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 rot="19920000">
            <a:off x="1593342" y="22502926"/>
            <a:ext cx="345643" cy="230428"/>
          </a:xfrm>
          <a:prstGeom prst="ellipse">
            <a:avLst/>
          </a:prstGeom>
          <a:solidFill>
            <a:srgbClr val="5BB876"/>
          </a:solidFill>
          <a:ln>
            <a:solidFill>
              <a:srgbClr val="2367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2304288" y="22338792"/>
            <a:ext cx="6355079" cy="365760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600" b="1">
                <a:solidFill>
                  <a:srgbClr val="081F2C"/>
                </a:solidFill>
                <a:latin typeface="Aptos"/>
              </a:rPr>
              <a:t>Insights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2304288" y="22759416"/>
            <a:ext cx="6355079" cy="310896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180" b="0">
                <a:solidFill>
                  <a:srgbClr val="51606C"/>
                </a:solidFill>
                <a:latin typeface="Aptos"/>
              </a:rPr>
              <a:t>Pareto + guidance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9372600" y="8330183"/>
            <a:ext cx="11795760" cy="6766560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BED1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ounded Rectangle 103"/>
          <p:cNvSpPr/>
          <p:nvPr/>
        </p:nvSpPr>
        <p:spPr>
          <a:xfrm>
            <a:off x="9372600" y="8330183"/>
            <a:ext cx="11795760" cy="438912"/>
          </a:xfrm>
          <a:prstGeom prst="roundRect">
            <a:avLst/>
          </a:prstGeom>
          <a:solidFill>
            <a:srgbClr val="0E8D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9573768" y="8366759"/>
            <a:ext cx="502920" cy="329184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Aptos"/>
              </a:rPr>
              <a:t>04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195560" y="8394192"/>
            <a:ext cx="10789920" cy="310896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850" b="1">
                <a:solidFill>
                  <a:srgbClr val="FFFFFF"/>
                </a:solidFill>
                <a:latin typeface="Aptos"/>
              </a:rPr>
              <a:t>RESEARCH QUESTIONS</a:t>
            </a:r>
          </a:p>
        </p:txBody>
      </p:sp>
      <p:sp>
        <p:nvSpPr>
          <p:cNvPr id="107" name="Oval 106"/>
          <p:cNvSpPr/>
          <p:nvPr/>
        </p:nvSpPr>
        <p:spPr>
          <a:xfrm>
            <a:off x="9811512" y="9134856"/>
            <a:ext cx="438912" cy="438912"/>
          </a:xfrm>
          <a:prstGeom prst="ellipse">
            <a:avLst/>
          </a:prstGeom>
          <a:solidFill>
            <a:srgbClr val="46AE5E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9811512" y="9174358"/>
            <a:ext cx="438912" cy="254568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135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415016" y="9162288"/>
            <a:ext cx="10131552" cy="402336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500" b="0">
                <a:solidFill>
                  <a:srgbClr val="081F2C"/>
                </a:solidFill>
                <a:latin typeface="Aptos"/>
              </a:rPr>
              <a:t>Which model is Pareto-efficient?</a:t>
            </a:r>
          </a:p>
        </p:txBody>
      </p:sp>
      <p:sp>
        <p:nvSpPr>
          <p:cNvPr id="110" name="Oval 109"/>
          <p:cNvSpPr/>
          <p:nvPr/>
        </p:nvSpPr>
        <p:spPr>
          <a:xfrm>
            <a:off x="9811512" y="9884664"/>
            <a:ext cx="438912" cy="438912"/>
          </a:xfrm>
          <a:prstGeom prst="ellipse">
            <a:avLst/>
          </a:prstGeom>
          <a:solidFill>
            <a:srgbClr val="46AE5E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9811512" y="9924166"/>
            <a:ext cx="438912" cy="254568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135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0415016" y="9912096"/>
            <a:ext cx="10131552" cy="402336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500" b="0">
                <a:solidFill>
                  <a:srgbClr val="081F2C"/>
                </a:solidFill>
                <a:latin typeface="Aptos"/>
              </a:rPr>
              <a:t>Which feature families add value?</a:t>
            </a:r>
          </a:p>
        </p:txBody>
      </p:sp>
      <p:sp>
        <p:nvSpPr>
          <p:cNvPr id="113" name="Oval 112"/>
          <p:cNvSpPr/>
          <p:nvPr/>
        </p:nvSpPr>
        <p:spPr>
          <a:xfrm>
            <a:off x="9811512" y="10634472"/>
            <a:ext cx="438912" cy="438912"/>
          </a:xfrm>
          <a:prstGeom prst="ellipse">
            <a:avLst/>
          </a:prstGeom>
          <a:solidFill>
            <a:srgbClr val="46AE5E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9811512" y="10673974"/>
            <a:ext cx="438912" cy="254568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135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415016" y="10661904"/>
            <a:ext cx="10131552" cy="402336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500" b="0">
                <a:solidFill>
                  <a:srgbClr val="081F2C"/>
                </a:solidFill>
                <a:latin typeface="Aptos"/>
              </a:rPr>
              <a:t>Are rankings seasonally stable?</a:t>
            </a:r>
          </a:p>
        </p:txBody>
      </p:sp>
      <p:sp>
        <p:nvSpPr>
          <p:cNvPr id="116" name="Oval 115"/>
          <p:cNvSpPr/>
          <p:nvPr/>
        </p:nvSpPr>
        <p:spPr>
          <a:xfrm>
            <a:off x="9811512" y="11384280"/>
            <a:ext cx="438912" cy="438912"/>
          </a:xfrm>
          <a:prstGeom prst="ellipse">
            <a:avLst/>
          </a:prstGeom>
          <a:solidFill>
            <a:srgbClr val="46AE5E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9811512" y="11423782"/>
            <a:ext cx="438912" cy="254568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135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0415016" y="11411711"/>
            <a:ext cx="10131552" cy="402336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500" b="0">
                <a:solidFill>
                  <a:srgbClr val="081F2C"/>
                </a:solidFill>
                <a:latin typeface="Aptos"/>
              </a:rPr>
              <a:t>Can simple models explain drivers?</a:t>
            </a:r>
          </a:p>
        </p:txBody>
      </p:sp>
      <p:sp>
        <p:nvSpPr>
          <p:cNvPr id="119" name="Oval 118"/>
          <p:cNvSpPr/>
          <p:nvPr/>
        </p:nvSpPr>
        <p:spPr>
          <a:xfrm>
            <a:off x="9811512" y="12134088"/>
            <a:ext cx="438912" cy="438912"/>
          </a:xfrm>
          <a:prstGeom prst="ellipse">
            <a:avLst/>
          </a:prstGeom>
          <a:solidFill>
            <a:srgbClr val="46AE5E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9811512" y="12173590"/>
            <a:ext cx="438912" cy="254568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135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415016" y="12161519"/>
            <a:ext cx="10131552" cy="402336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500" b="0">
                <a:solidFill>
                  <a:srgbClr val="081F2C"/>
                </a:solidFill>
                <a:latin typeface="Aptos"/>
              </a:rPr>
              <a:t>Do green training windows help?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21762720" y="8330183"/>
            <a:ext cx="21214080" cy="9601200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BED1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ounded Rectangle 122"/>
          <p:cNvSpPr/>
          <p:nvPr/>
        </p:nvSpPr>
        <p:spPr>
          <a:xfrm>
            <a:off x="21762720" y="8330183"/>
            <a:ext cx="21214080" cy="438912"/>
          </a:xfrm>
          <a:prstGeom prst="roundRect">
            <a:avLst/>
          </a:prstGeom>
          <a:solidFill>
            <a:srgbClr val="2367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21963888" y="8366759"/>
            <a:ext cx="502920" cy="329184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Aptos"/>
              </a:rPr>
              <a:t>05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22585680" y="8394192"/>
            <a:ext cx="20208239" cy="310896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850" b="1">
                <a:solidFill>
                  <a:srgbClr val="FFFFFF"/>
                </a:solidFill>
                <a:latin typeface="Aptos"/>
              </a:rPr>
              <a:t>KEY RESULTS (HIGHLIGHTS)</a:t>
            </a:r>
          </a:p>
        </p:txBody>
      </p:sp>
      <p:graphicFrame>
        <p:nvGraphicFramePr>
          <p:cNvPr id="126" name="Chart 125"/>
          <p:cNvGraphicFramePr>
            <a:graphicFrameLocks noGrp="1"/>
          </p:cNvGraphicFramePr>
          <p:nvPr/>
        </p:nvGraphicFramePr>
        <p:xfrm>
          <a:off x="22265640" y="9089136"/>
          <a:ext cx="9295790" cy="3479749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27" name="Chart 126"/>
          <p:cNvGraphicFramePr>
            <a:graphicFrameLocks noGrp="1"/>
          </p:cNvGraphicFramePr>
          <p:nvPr/>
        </p:nvGraphicFramePr>
        <p:xfrm>
          <a:off x="32369760" y="9089136"/>
          <a:ext cx="9699955" cy="3479749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128" name="Chart 127"/>
          <p:cNvGraphicFramePr>
            <a:graphicFrameLocks noGrp="1"/>
          </p:cNvGraphicFramePr>
          <p:nvPr/>
        </p:nvGraphicFramePr>
        <p:xfrm>
          <a:off x="22265640" y="13135355"/>
          <a:ext cx="9295790" cy="3398824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29" name="TextBox 128"/>
          <p:cNvSpPr txBox="1"/>
          <p:nvPr/>
        </p:nvSpPr>
        <p:spPr>
          <a:xfrm>
            <a:off x="33380172" y="13539978"/>
            <a:ext cx="3233318" cy="457200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3600" b="1">
                <a:solidFill>
                  <a:srgbClr val="46AE5E"/>
                </a:solidFill>
                <a:latin typeface="Aptos"/>
              </a:rPr>
              <a:t>31.9%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33380172" y="14106906"/>
            <a:ext cx="3233318" cy="438912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1320" b="0">
                <a:solidFill>
                  <a:srgbClr val="51606C"/>
                </a:solidFill>
                <a:latin typeface="Aptos"/>
              </a:rPr>
              <a:t>green-window reduction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6815572" y="13539978"/>
            <a:ext cx="2627071" cy="457200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3600" b="1">
                <a:solidFill>
                  <a:srgbClr val="0E8D82"/>
                </a:solidFill>
                <a:latin typeface="Aptos"/>
              </a:rPr>
              <a:t>0.899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6815572" y="14106906"/>
            <a:ext cx="2627071" cy="438912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1320" b="0">
                <a:solidFill>
                  <a:srgbClr val="51606C"/>
                </a:solidFill>
                <a:latin typeface="Aptos"/>
              </a:rPr>
              <a:t>best F1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9442644" y="13539978"/>
            <a:ext cx="2424988" cy="457200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3600" b="1">
                <a:solidFill>
                  <a:srgbClr val="236792"/>
                </a:solidFill>
                <a:latin typeface="Aptos"/>
              </a:rPr>
              <a:t>0.993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9442644" y="14106906"/>
            <a:ext cx="2424988" cy="438912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1320" b="0">
                <a:solidFill>
                  <a:srgbClr val="51606C"/>
                </a:solidFill>
                <a:latin typeface="Aptos"/>
              </a:rPr>
              <a:t>ROC-AUC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32773924" y="15401239"/>
            <a:ext cx="8891625" cy="841248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1450" b="1">
                <a:solidFill>
                  <a:srgbClr val="081F2C"/>
                </a:solidFill>
                <a:latin typeface="Aptos"/>
              </a:rPr>
              <a:t>HGB is the balanced recommendation; Linear SVM is the lowest-compute fallback.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9372600" y="15553943"/>
            <a:ext cx="11795760" cy="4892040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BED1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ounded Rectangle 136"/>
          <p:cNvSpPr/>
          <p:nvPr/>
        </p:nvSpPr>
        <p:spPr>
          <a:xfrm>
            <a:off x="9372600" y="15553943"/>
            <a:ext cx="11795760" cy="438912"/>
          </a:xfrm>
          <a:prstGeom prst="roundRect">
            <a:avLst/>
          </a:prstGeom>
          <a:solidFill>
            <a:srgbClr val="46A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9573768" y="15590519"/>
            <a:ext cx="502920" cy="329184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Aptos"/>
              </a:rPr>
              <a:t>06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0195560" y="15617951"/>
            <a:ext cx="10789920" cy="310896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850" b="1">
                <a:solidFill>
                  <a:srgbClr val="FFFFFF"/>
                </a:solidFill>
                <a:latin typeface="Aptos"/>
              </a:rPr>
              <a:t>KEY FINDINGS</a:t>
            </a:r>
          </a:p>
        </p:txBody>
      </p:sp>
      <p:sp>
        <p:nvSpPr>
          <p:cNvPr id="140" name="Oval 139"/>
          <p:cNvSpPr/>
          <p:nvPr/>
        </p:nvSpPr>
        <p:spPr>
          <a:xfrm>
            <a:off x="9811512" y="16303751"/>
            <a:ext cx="342351" cy="342351"/>
          </a:xfrm>
          <a:prstGeom prst="ellipse">
            <a:avLst/>
          </a:prstGeom>
          <a:solidFill>
            <a:srgbClr val="EFF9F7"/>
          </a:solidFill>
          <a:ln w="19050">
            <a:solidFill>
              <a:srgbClr val="46AE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Pentagon 140"/>
          <p:cNvSpPr/>
          <p:nvPr/>
        </p:nvSpPr>
        <p:spPr>
          <a:xfrm>
            <a:off x="9908072" y="16382756"/>
            <a:ext cx="158008" cy="188732"/>
          </a:xfrm>
          <a:prstGeom prst="homePlate">
            <a:avLst/>
          </a:prstGeom>
          <a:solidFill>
            <a:srgbClr val="E8F6F0"/>
          </a:solidFill>
          <a:ln>
            <a:solidFill>
              <a:srgbClr val="46AE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9930018" y="16435425"/>
            <a:ext cx="114117" cy="52669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384" b="1">
                <a:solidFill>
                  <a:srgbClr val="46AE5E"/>
                </a:solidFill>
                <a:latin typeface="Aptos"/>
              </a:rPr>
              <a:t>✓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0314432" y="16331184"/>
            <a:ext cx="10287000" cy="310896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400" b="0">
                <a:solidFill>
                  <a:srgbClr val="081F2C"/>
                </a:solidFill>
                <a:latin typeface="Aptos"/>
              </a:rPr>
              <a:t>HGB: best F1 and Pareto-efficient.</a:t>
            </a:r>
          </a:p>
        </p:txBody>
      </p:sp>
      <p:sp>
        <p:nvSpPr>
          <p:cNvPr id="144" name="Oval 143"/>
          <p:cNvSpPr/>
          <p:nvPr/>
        </p:nvSpPr>
        <p:spPr>
          <a:xfrm>
            <a:off x="9811512" y="16989552"/>
            <a:ext cx="342351" cy="342351"/>
          </a:xfrm>
          <a:prstGeom prst="ellipse">
            <a:avLst/>
          </a:prstGeom>
          <a:solidFill>
            <a:srgbClr val="EFF9F7"/>
          </a:solidFill>
          <a:ln w="19050">
            <a:solidFill>
              <a:srgbClr val="2367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Pentagon 144"/>
          <p:cNvSpPr/>
          <p:nvPr/>
        </p:nvSpPr>
        <p:spPr>
          <a:xfrm>
            <a:off x="9908072" y="17068556"/>
            <a:ext cx="158008" cy="188732"/>
          </a:xfrm>
          <a:prstGeom prst="homePlate">
            <a:avLst/>
          </a:prstGeom>
          <a:solidFill>
            <a:srgbClr val="E8F6F0"/>
          </a:solidFill>
          <a:ln>
            <a:solidFill>
              <a:srgbClr val="2367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9930018" y="17121225"/>
            <a:ext cx="114117" cy="52669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384" b="1">
                <a:solidFill>
                  <a:srgbClr val="236792"/>
                </a:solidFill>
                <a:latin typeface="Aptos"/>
              </a:rPr>
              <a:t>✓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0314432" y="17016984"/>
            <a:ext cx="10287000" cy="310896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400" b="0">
                <a:solidFill>
                  <a:srgbClr val="081F2C"/>
                </a:solidFill>
                <a:latin typeface="Aptos"/>
              </a:rPr>
              <a:t>Load history gives the largest feature gain.</a:t>
            </a:r>
          </a:p>
        </p:txBody>
      </p:sp>
      <p:sp>
        <p:nvSpPr>
          <p:cNvPr id="148" name="Oval 147"/>
          <p:cNvSpPr/>
          <p:nvPr/>
        </p:nvSpPr>
        <p:spPr>
          <a:xfrm>
            <a:off x="9811512" y="17675352"/>
            <a:ext cx="342351" cy="342351"/>
          </a:xfrm>
          <a:prstGeom prst="ellipse">
            <a:avLst/>
          </a:prstGeom>
          <a:solidFill>
            <a:srgbClr val="EFF9F7"/>
          </a:solidFill>
          <a:ln w="19050">
            <a:solidFill>
              <a:srgbClr val="46AE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Pentagon 148"/>
          <p:cNvSpPr/>
          <p:nvPr/>
        </p:nvSpPr>
        <p:spPr>
          <a:xfrm>
            <a:off x="9908072" y="17754356"/>
            <a:ext cx="158008" cy="188732"/>
          </a:xfrm>
          <a:prstGeom prst="homePlate">
            <a:avLst/>
          </a:prstGeom>
          <a:solidFill>
            <a:srgbClr val="E8F6F0"/>
          </a:solidFill>
          <a:ln>
            <a:solidFill>
              <a:srgbClr val="46AE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9930018" y="17807025"/>
            <a:ext cx="114117" cy="52669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384" b="1">
                <a:solidFill>
                  <a:srgbClr val="46AE5E"/>
                </a:solidFill>
                <a:latin typeface="Aptos"/>
              </a:rPr>
              <a:t>✓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0314432" y="17702784"/>
            <a:ext cx="10287000" cy="310896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400" b="0">
                <a:solidFill>
                  <a:srgbClr val="081F2C"/>
                </a:solidFill>
                <a:latin typeface="Aptos"/>
              </a:rPr>
              <a:t>Summer is the hardest seasonal regime.</a:t>
            </a:r>
          </a:p>
        </p:txBody>
      </p:sp>
      <p:sp>
        <p:nvSpPr>
          <p:cNvPr id="152" name="Oval 151"/>
          <p:cNvSpPr/>
          <p:nvPr/>
        </p:nvSpPr>
        <p:spPr>
          <a:xfrm>
            <a:off x="9811512" y="18361152"/>
            <a:ext cx="342351" cy="342351"/>
          </a:xfrm>
          <a:prstGeom prst="ellipse">
            <a:avLst/>
          </a:prstGeom>
          <a:solidFill>
            <a:srgbClr val="EFF9F7"/>
          </a:solidFill>
          <a:ln w="19050">
            <a:solidFill>
              <a:srgbClr val="2367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Pentagon 152"/>
          <p:cNvSpPr/>
          <p:nvPr/>
        </p:nvSpPr>
        <p:spPr>
          <a:xfrm>
            <a:off x="9908072" y="18440156"/>
            <a:ext cx="158008" cy="188732"/>
          </a:xfrm>
          <a:prstGeom prst="homePlate">
            <a:avLst/>
          </a:prstGeom>
          <a:solidFill>
            <a:srgbClr val="E8F6F0"/>
          </a:solidFill>
          <a:ln>
            <a:solidFill>
              <a:srgbClr val="2367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9930018" y="18492825"/>
            <a:ext cx="114117" cy="52669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384" b="1">
                <a:solidFill>
                  <a:srgbClr val="236792"/>
                </a:solidFill>
                <a:latin typeface="Aptos"/>
              </a:rPr>
              <a:t>✓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0314432" y="18388584"/>
            <a:ext cx="10287000" cy="310896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400" b="0">
                <a:solidFill>
                  <a:srgbClr val="081F2C"/>
                </a:solidFill>
                <a:latin typeface="Aptos"/>
              </a:rPr>
              <a:t>Use low-compute baselines for auditability.</a:t>
            </a:r>
          </a:p>
        </p:txBody>
      </p:sp>
      <p:sp>
        <p:nvSpPr>
          <p:cNvPr id="156" name="Rounded Rectangle 155"/>
          <p:cNvSpPr/>
          <p:nvPr/>
        </p:nvSpPr>
        <p:spPr>
          <a:xfrm>
            <a:off x="21762720" y="18388584"/>
            <a:ext cx="21214080" cy="4800600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BED1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ounded Rectangle 156"/>
          <p:cNvSpPr/>
          <p:nvPr/>
        </p:nvSpPr>
        <p:spPr>
          <a:xfrm>
            <a:off x="21762720" y="18388584"/>
            <a:ext cx="21214080" cy="438912"/>
          </a:xfrm>
          <a:prstGeom prst="roundRect">
            <a:avLst/>
          </a:prstGeom>
          <a:solidFill>
            <a:srgbClr val="0E8D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21963888" y="18425160"/>
            <a:ext cx="502920" cy="329184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Aptos"/>
              </a:rPr>
              <a:t>07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22585680" y="18452592"/>
            <a:ext cx="20208239" cy="310896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850" b="1">
                <a:solidFill>
                  <a:srgbClr val="FFFFFF"/>
                </a:solidFill>
                <a:latin typeface="Aptos"/>
              </a:rPr>
              <a:t>CONCLUSION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22265640" y="19138392"/>
            <a:ext cx="20116800" cy="1170432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1800" b="1">
                <a:solidFill>
                  <a:srgbClr val="081F2C"/>
                </a:solidFill>
                <a:latin typeface="Aptos"/>
              </a:rPr>
              <a:t>Responsible model selection should be Pareto-based: accuracy, carbon proxy, runtime, model size, seasonal robustness and auditability are evaluated together.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22448520" y="20720304"/>
            <a:ext cx="19659600" cy="932688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1350" b="0">
                <a:solidFill>
                  <a:srgbClr val="51606C"/>
                </a:solidFill>
                <a:latin typeface="Aptos"/>
              </a:rPr>
              <a:t>Recommended balanced model: Histogram Gradient Boosting. Recommended low-compute fallback: Linear SVM. Next step: replace proxy energy with measured hardware power.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0" y="24003000"/>
            <a:ext cx="43891200" cy="685800"/>
          </a:xfrm>
          <a:prstGeom prst="rect">
            <a:avLst/>
          </a:prstGeom>
          <a:solidFill>
            <a:srgbClr val="0220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1005840" y="24112728"/>
            <a:ext cx="40965120" cy="310896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1200" b="0">
                <a:solidFill>
                  <a:srgbClr val="D4EEE6"/>
                </a:solidFill>
                <a:latin typeface="Aptos"/>
              </a:rPr>
              <a:t>Dataset: Open Power System Data Time Series (2020-10-06) | Reproducible notebooks, figures, tables, workflow, and IEEE/PES report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3891200" cy="2907792"/>
          </a:xfrm>
          <a:prstGeom prst="rect">
            <a:avLst/>
          </a:prstGeom>
          <a:solidFill>
            <a:srgbClr val="F5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0" y="274320"/>
            <a:ext cx="34747200" cy="914400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5600" b="1">
                <a:solidFill>
                  <a:srgbClr val="133043"/>
                </a:solidFill>
                <a:latin typeface="Aptos Display"/>
              </a:rPr>
              <a:t>Auditing Carbon-Aware AI Model Selection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225296"/>
            <a:ext cx="34747200" cy="530352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3000" b="1">
                <a:solidFill>
                  <a:srgbClr val="133043"/>
                </a:solidFill>
                <a:latin typeface="Aptos"/>
              </a:rPr>
              <a:t>Accuracy, Sustainability, Transparency and Robustness in German Power-System Analytics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0" y="1956816"/>
            <a:ext cx="34747200" cy="384048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1700" b="0">
                <a:solidFill>
                  <a:srgbClr val="57606A"/>
                </a:solidFill>
                <a:latin typeface="Aptos"/>
              </a:rPr>
              <a:t>AI, Power &amp; Responsibility - Governing Intelligent Systems for Sustainability</a:t>
            </a:r>
          </a:p>
        </p:txBody>
      </p:sp>
      <p:sp>
        <p:nvSpPr>
          <p:cNvPr id="6" name="Oval 5"/>
          <p:cNvSpPr/>
          <p:nvPr/>
        </p:nvSpPr>
        <p:spPr>
          <a:xfrm>
            <a:off x="1097280" y="749808"/>
            <a:ext cx="1034186" cy="1034186"/>
          </a:xfrm>
          <a:prstGeom prst="ellipse">
            <a:avLst/>
          </a:prstGeom>
          <a:solidFill>
            <a:srgbClr val="EFF9F7"/>
          </a:solidFill>
          <a:ln w="19050">
            <a:solidFill>
              <a:srgbClr val="3064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88973" y="1041501"/>
            <a:ext cx="450799" cy="450799"/>
          </a:xfrm>
          <a:prstGeom prst="rect">
            <a:avLst/>
          </a:prstGeom>
          <a:solidFill>
            <a:srgbClr val="DAF4EE"/>
          </a:solidFill>
          <a:ln>
            <a:solidFill>
              <a:srgbClr val="3064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>
            <a:off x="1309420" y="1266901"/>
            <a:ext cx="79553" cy="0"/>
          </a:xfrm>
          <a:prstGeom prst="line">
            <a:avLst/>
          </a:prstGeom>
          <a:ln w="12700">
            <a:solidFill>
              <a:srgbClr val="3064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H="1">
            <a:off x="1839772" y="1266901"/>
            <a:ext cx="66294" cy="0"/>
          </a:xfrm>
          <a:prstGeom prst="line">
            <a:avLst/>
          </a:prstGeom>
          <a:ln w="12700">
            <a:solidFill>
              <a:srgbClr val="3064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428750" y="1134313"/>
            <a:ext cx="371246" cy="185623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797" b="1">
                <a:solidFill>
                  <a:srgbClr val="3064A2"/>
                </a:solidFill>
                <a:latin typeface="Aptos"/>
              </a:rPr>
              <a:t>AI</a:t>
            </a:r>
          </a:p>
        </p:txBody>
      </p:sp>
      <p:sp>
        <p:nvSpPr>
          <p:cNvPr id="11" name="Oval 10"/>
          <p:cNvSpPr/>
          <p:nvPr/>
        </p:nvSpPr>
        <p:spPr>
          <a:xfrm>
            <a:off x="1920240" y="749808"/>
            <a:ext cx="1034186" cy="1034186"/>
          </a:xfrm>
          <a:prstGeom prst="ellipse">
            <a:avLst/>
          </a:prstGeom>
          <a:solidFill>
            <a:srgbClr val="EFF9F7"/>
          </a:solidFill>
          <a:ln w="19050">
            <a:solidFill>
              <a:srgbClr val="2A9D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 rot="19920000">
            <a:off x="2251710" y="1001725"/>
            <a:ext cx="477316" cy="318211"/>
          </a:xfrm>
          <a:prstGeom prst="ellipse">
            <a:avLst/>
          </a:prstGeom>
          <a:solidFill>
            <a:srgbClr val="5BB876"/>
          </a:solidFill>
          <a:ln>
            <a:solidFill>
              <a:srgbClr val="2A9D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1056560" y="749808"/>
            <a:ext cx="1034186" cy="1034186"/>
          </a:xfrm>
          <a:prstGeom prst="ellipse">
            <a:avLst/>
          </a:prstGeom>
          <a:solidFill>
            <a:srgbClr val="EFF9F7"/>
          </a:solidFill>
          <a:ln w="19050">
            <a:solidFill>
              <a:srgbClr val="3064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Can 13"/>
          <p:cNvSpPr/>
          <p:nvPr/>
        </p:nvSpPr>
        <p:spPr>
          <a:xfrm>
            <a:off x="41348253" y="1014983"/>
            <a:ext cx="477316" cy="556869"/>
          </a:xfrm>
          <a:prstGeom prst="can">
            <a:avLst/>
          </a:prstGeom>
          <a:solidFill>
            <a:srgbClr val="DBF0F9"/>
          </a:solidFill>
          <a:ln>
            <a:solidFill>
              <a:srgbClr val="3064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1879520" y="749808"/>
            <a:ext cx="1034186" cy="1034186"/>
          </a:xfrm>
          <a:prstGeom prst="ellipse">
            <a:avLst/>
          </a:prstGeom>
          <a:solidFill>
            <a:srgbClr val="EFF9F7"/>
          </a:solidFill>
          <a:ln w="19050">
            <a:solidFill>
              <a:srgbClr val="2A9D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Pentagon 15"/>
          <p:cNvSpPr/>
          <p:nvPr/>
        </p:nvSpPr>
        <p:spPr>
          <a:xfrm>
            <a:off x="42171213" y="988466"/>
            <a:ext cx="477316" cy="570128"/>
          </a:xfrm>
          <a:prstGeom prst="homePlate">
            <a:avLst/>
          </a:prstGeom>
          <a:solidFill>
            <a:srgbClr val="E8F6F0"/>
          </a:solidFill>
          <a:ln>
            <a:solidFill>
              <a:srgbClr val="2A9D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237507" y="1147572"/>
            <a:ext cx="344728" cy="159105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1160" b="1">
                <a:solidFill>
                  <a:srgbClr val="2A9D67"/>
                </a:solidFill>
                <a:latin typeface="Aptos"/>
              </a:rPr>
              <a:t>✓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" y="3310128"/>
            <a:ext cx="20299680" cy="4343400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14400" y="3310128"/>
            <a:ext cx="20299680" cy="438912"/>
          </a:xfrm>
          <a:prstGeom prst="roundRect">
            <a:avLst/>
          </a:prstGeom>
          <a:solidFill>
            <a:srgbClr val="2A9D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15568" y="3346704"/>
            <a:ext cx="502920" cy="329184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Aptos"/>
              </a:rPr>
              <a:t>01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37360" y="3374136"/>
            <a:ext cx="19293839" cy="310896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850" b="1">
                <a:solidFill>
                  <a:srgbClr val="FFFFFF"/>
                </a:solidFill>
                <a:latin typeface="Aptos"/>
              </a:rPr>
              <a:t>MOTIVATION</a:t>
            </a:r>
          </a:p>
        </p:txBody>
      </p:sp>
      <p:sp>
        <p:nvSpPr>
          <p:cNvPr id="22" name="Oval 21"/>
          <p:cNvSpPr/>
          <p:nvPr/>
        </p:nvSpPr>
        <p:spPr>
          <a:xfrm>
            <a:off x="1298448" y="4059935"/>
            <a:ext cx="342351" cy="342351"/>
          </a:xfrm>
          <a:prstGeom prst="ellipse">
            <a:avLst/>
          </a:prstGeom>
          <a:solidFill>
            <a:srgbClr val="EFF9F7"/>
          </a:solidFill>
          <a:ln w="19050">
            <a:solidFill>
              <a:srgbClr val="2A9D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 rot="19920000">
            <a:off x="1408176" y="4143329"/>
            <a:ext cx="158008" cy="105338"/>
          </a:xfrm>
          <a:prstGeom prst="ellipse">
            <a:avLst/>
          </a:prstGeom>
          <a:solidFill>
            <a:srgbClr val="5BB876"/>
          </a:solidFill>
          <a:ln>
            <a:solidFill>
              <a:srgbClr val="2A9D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801368" y="4087368"/>
            <a:ext cx="18516600" cy="310896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600" b="0">
                <a:solidFill>
                  <a:srgbClr val="133043"/>
                </a:solidFill>
                <a:latin typeface="Aptos"/>
              </a:rPr>
              <a:t>Accuracy-only ML model choice hides compute and carbon costs.</a:t>
            </a:r>
          </a:p>
        </p:txBody>
      </p:sp>
      <p:sp>
        <p:nvSpPr>
          <p:cNvPr id="25" name="Oval 24"/>
          <p:cNvSpPr/>
          <p:nvPr/>
        </p:nvSpPr>
        <p:spPr>
          <a:xfrm>
            <a:off x="1298448" y="4818888"/>
            <a:ext cx="342351" cy="342351"/>
          </a:xfrm>
          <a:prstGeom prst="ellipse">
            <a:avLst/>
          </a:prstGeom>
          <a:solidFill>
            <a:srgbClr val="EFF9F7"/>
          </a:solidFill>
          <a:ln w="19050">
            <a:solidFill>
              <a:srgbClr val="3064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Pentagon 25"/>
          <p:cNvSpPr/>
          <p:nvPr/>
        </p:nvSpPr>
        <p:spPr>
          <a:xfrm>
            <a:off x="1395008" y="4897892"/>
            <a:ext cx="158008" cy="188732"/>
          </a:xfrm>
          <a:prstGeom prst="homePlate">
            <a:avLst/>
          </a:prstGeom>
          <a:solidFill>
            <a:srgbClr val="E8F6F0"/>
          </a:solidFill>
          <a:ln>
            <a:solidFill>
              <a:srgbClr val="3064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16954" y="4950561"/>
            <a:ext cx="114117" cy="52669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384" b="1">
                <a:solidFill>
                  <a:srgbClr val="3064A2"/>
                </a:solidFill>
                <a:latin typeface="Aptos"/>
              </a:rP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01368" y="4846320"/>
            <a:ext cx="18516600" cy="310896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600" b="0">
                <a:solidFill>
                  <a:srgbClr val="133043"/>
                </a:solidFill>
                <a:latin typeface="Aptos"/>
              </a:rPr>
              <a:t>German grid analytics needs robust, season-aware evidence.</a:t>
            </a:r>
          </a:p>
        </p:txBody>
      </p:sp>
      <p:sp>
        <p:nvSpPr>
          <p:cNvPr id="29" name="Oval 28"/>
          <p:cNvSpPr/>
          <p:nvPr/>
        </p:nvSpPr>
        <p:spPr>
          <a:xfrm>
            <a:off x="1298448" y="5577840"/>
            <a:ext cx="342351" cy="342351"/>
          </a:xfrm>
          <a:prstGeom prst="ellipse">
            <a:avLst/>
          </a:prstGeom>
          <a:solidFill>
            <a:srgbClr val="EFF9F7"/>
          </a:solidFill>
          <a:ln w="19050">
            <a:solidFill>
              <a:srgbClr val="2A9D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 rot="19920000">
            <a:off x="1408176" y="5661233"/>
            <a:ext cx="158008" cy="105338"/>
          </a:xfrm>
          <a:prstGeom prst="ellipse">
            <a:avLst/>
          </a:prstGeom>
          <a:solidFill>
            <a:srgbClr val="5BB876"/>
          </a:solidFill>
          <a:ln>
            <a:solidFill>
              <a:srgbClr val="2A9D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801368" y="5605272"/>
            <a:ext cx="18516600" cy="310896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600" b="0">
                <a:solidFill>
                  <a:srgbClr val="133043"/>
                </a:solidFill>
                <a:latin typeface="Aptos"/>
              </a:rPr>
              <a:t>Transparent reporting should include F1, AUC, runtime and size.</a:t>
            </a:r>
          </a:p>
        </p:txBody>
      </p:sp>
      <p:sp>
        <p:nvSpPr>
          <p:cNvPr id="32" name="Oval 31"/>
          <p:cNvSpPr/>
          <p:nvPr/>
        </p:nvSpPr>
        <p:spPr>
          <a:xfrm>
            <a:off x="1298448" y="6336791"/>
            <a:ext cx="342351" cy="342351"/>
          </a:xfrm>
          <a:prstGeom prst="ellipse">
            <a:avLst/>
          </a:prstGeom>
          <a:solidFill>
            <a:srgbClr val="EFF9F7"/>
          </a:solidFill>
          <a:ln w="19050">
            <a:solidFill>
              <a:srgbClr val="3064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Pentagon 32"/>
          <p:cNvSpPr/>
          <p:nvPr/>
        </p:nvSpPr>
        <p:spPr>
          <a:xfrm>
            <a:off x="1395008" y="6415796"/>
            <a:ext cx="158008" cy="188732"/>
          </a:xfrm>
          <a:prstGeom prst="homePlate">
            <a:avLst/>
          </a:prstGeom>
          <a:solidFill>
            <a:srgbClr val="E8F6F0"/>
          </a:solidFill>
          <a:ln>
            <a:solidFill>
              <a:srgbClr val="3064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416954" y="6468465"/>
            <a:ext cx="114117" cy="52669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384" b="1">
                <a:solidFill>
                  <a:srgbClr val="3064A2"/>
                </a:solidFill>
                <a:latin typeface="Aptos"/>
              </a:rPr>
              <a:t>✓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01368" y="6364223"/>
            <a:ext cx="18516600" cy="310896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600" b="0">
                <a:solidFill>
                  <a:srgbClr val="133043"/>
                </a:solidFill>
                <a:latin typeface="Aptos"/>
              </a:rPr>
              <a:t>Carbon-aware scheduling can reduce avoidable training impact.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1945600" y="3310128"/>
            <a:ext cx="21031200" cy="4343400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21945600" y="3310128"/>
            <a:ext cx="21031200" cy="438912"/>
          </a:xfrm>
          <a:prstGeom prst="roundRect">
            <a:avLst/>
          </a:prstGeom>
          <a:solidFill>
            <a:srgbClr val="3064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2146768" y="3346704"/>
            <a:ext cx="502920" cy="329184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Aptos"/>
              </a:rPr>
              <a:t>02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2768560" y="3374136"/>
            <a:ext cx="20025360" cy="310896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850" b="1">
                <a:solidFill>
                  <a:srgbClr val="FFFFFF"/>
                </a:solidFill>
                <a:latin typeface="Aptos"/>
              </a:rPr>
              <a:t>DATASETS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2357080" y="4178808"/>
            <a:ext cx="6583680" cy="2212848"/>
          </a:xfrm>
          <a:prstGeom prst="roundRect">
            <a:avLst/>
          </a:prstGeom>
          <a:solidFill>
            <a:srgbClr val="F9FDFC"/>
          </a:solidFill>
          <a:ln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22585680" y="4489704"/>
            <a:ext cx="613379" cy="613379"/>
          </a:xfrm>
          <a:prstGeom prst="ellipse">
            <a:avLst/>
          </a:prstGeom>
          <a:solidFill>
            <a:srgbClr val="EFF9F7"/>
          </a:solidFill>
          <a:ln w="19050">
            <a:solidFill>
              <a:srgbClr val="3064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Can 41"/>
          <p:cNvSpPr/>
          <p:nvPr/>
        </p:nvSpPr>
        <p:spPr>
          <a:xfrm>
            <a:off x="22758684" y="4646980"/>
            <a:ext cx="283098" cy="330281"/>
          </a:xfrm>
          <a:prstGeom prst="can">
            <a:avLst/>
          </a:prstGeom>
          <a:solidFill>
            <a:srgbClr val="DBF0F9"/>
          </a:solidFill>
          <a:ln>
            <a:solidFill>
              <a:srgbClr val="3064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3344632" y="4398264"/>
            <a:ext cx="5440680" cy="457200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550" b="1">
                <a:solidFill>
                  <a:srgbClr val="133043"/>
                </a:solidFill>
                <a:latin typeface="Aptos"/>
              </a:rPr>
              <a:t>OPSD Time Series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3344632" y="4937760"/>
            <a:ext cx="5440680" cy="420624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420" b="1">
                <a:solidFill>
                  <a:srgbClr val="008080"/>
                </a:solidFill>
                <a:latin typeface="Aptos"/>
              </a:rPr>
              <a:t>~50,401 raw hourly rows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3344632" y="5422392"/>
            <a:ext cx="5440680" cy="658368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200" b="0">
                <a:solidFill>
                  <a:srgbClr val="57606A"/>
                </a:solidFill>
                <a:latin typeface="Aptos"/>
              </a:rPr>
              <a:t>load, wind, solar, TSO zones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9169360" y="4178808"/>
            <a:ext cx="6583680" cy="2212848"/>
          </a:xfrm>
          <a:prstGeom prst="roundRect">
            <a:avLst/>
          </a:prstGeom>
          <a:solidFill>
            <a:srgbClr val="F9FDFC"/>
          </a:solidFill>
          <a:ln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29397960" y="4489704"/>
            <a:ext cx="613379" cy="613379"/>
          </a:xfrm>
          <a:prstGeom prst="ellipse">
            <a:avLst/>
          </a:prstGeom>
          <a:solidFill>
            <a:srgbClr val="EFF9F7"/>
          </a:solidFill>
          <a:ln w="19050">
            <a:solidFill>
              <a:srgbClr val="2A9D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29570964" y="4819985"/>
            <a:ext cx="55046" cy="141549"/>
          </a:xfrm>
          <a:prstGeom prst="rect">
            <a:avLst/>
          </a:prstGeom>
          <a:solidFill>
            <a:srgbClr val="2A9D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29657466" y="4725619"/>
            <a:ext cx="55046" cy="235915"/>
          </a:xfrm>
          <a:prstGeom prst="rect">
            <a:avLst/>
          </a:prstGeom>
          <a:solidFill>
            <a:srgbClr val="2A9D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9743968" y="4631253"/>
            <a:ext cx="55046" cy="330281"/>
          </a:xfrm>
          <a:prstGeom prst="rect">
            <a:avLst/>
          </a:prstGeom>
          <a:solidFill>
            <a:srgbClr val="2A9D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0156911" y="4398264"/>
            <a:ext cx="5440680" cy="457200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550" b="1">
                <a:solidFill>
                  <a:srgbClr val="133043"/>
                </a:solidFill>
                <a:latin typeface="Aptos"/>
              </a:rPr>
              <a:t>Processed ML Table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0156911" y="4937760"/>
            <a:ext cx="5440680" cy="420624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420" b="1">
                <a:solidFill>
                  <a:srgbClr val="008080"/>
                </a:solidFill>
                <a:latin typeface="Aptos"/>
              </a:rPr>
              <a:t>50,209 rows; 29 features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0156911" y="5422392"/>
            <a:ext cx="5440680" cy="658368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200" b="0">
                <a:solidFill>
                  <a:srgbClr val="57606A"/>
                </a:solidFill>
                <a:latin typeface="Aptos"/>
              </a:rPr>
              <a:t>lags, residual-load proxy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5981640" y="4178808"/>
            <a:ext cx="6583680" cy="2212848"/>
          </a:xfrm>
          <a:prstGeom prst="roundRect">
            <a:avLst/>
          </a:prstGeom>
          <a:solidFill>
            <a:srgbClr val="F9FDFC"/>
          </a:solidFill>
          <a:ln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36210240" y="4489704"/>
            <a:ext cx="613379" cy="613379"/>
          </a:xfrm>
          <a:prstGeom prst="ellipse">
            <a:avLst/>
          </a:prstGeom>
          <a:solidFill>
            <a:srgbClr val="EFF9F7"/>
          </a:solidFill>
          <a:ln w="19050">
            <a:solidFill>
              <a:srgbClr val="3064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Document 55"/>
          <p:cNvSpPr/>
          <p:nvPr/>
        </p:nvSpPr>
        <p:spPr>
          <a:xfrm>
            <a:off x="36391108" y="4631253"/>
            <a:ext cx="267370" cy="353872"/>
          </a:xfrm>
          <a:prstGeom prst="flowChartDocument">
            <a:avLst/>
          </a:prstGeom>
          <a:solidFill>
            <a:srgbClr val="F8FCFC"/>
          </a:solidFill>
          <a:ln>
            <a:solidFill>
              <a:srgbClr val="3064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6969192" y="4398264"/>
            <a:ext cx="5440680" cy="457200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550" b="1">
                <a:solidFill>
                  <a:srgbClr val="133043"/>
                </a:solidFill>
                <a:latin typeface="Aptos"/>
              </a:rPr>
              <a:t>Artifacts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6969192" y="4937760"/>
            <a:ext cx="5440680" cy="420624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420" b="1">
                <a:solidFill>
                  <a:srgbClr val="008080"/>
                </a:solidFill>
                <a:latin typeface="Aptos"/>
              </a:rPr>
              <a:t>5 notebooks; 10 figures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6969192" y="5422392"/>
            <a:ext cx="5440680" cy="658368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200" b="0">
                <a:solidFill>
                  <a:srgbClr val="57606A"/>
                </a:solidFill>
                <a:latin typeface="Aptos"/>
              </a:rPr>
              <a:t>CSV tables + IEEE report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914400" y="8110728"/>
            <a:ext cx="7955279" cy="14859000"/>
          </a:xfrm>
          <a:prstGeom prst="roundRect">
            <a:avLst/>
          </a:prstGeom>
          <a:solidFill>
            <a:srgbClr val="F7FCFB"/>
          </a:solidFill>
          <a:ln w="1651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914400" y="8110728"/>
            <a:ext cx="7955279" cy="438912"/>
          </a:xfrm>
          <a:prstGeom prst="roundRect">
            <a:avLst/>
          </a:prstGeom>
          <a:solidFill>
            <a:srgbClr val="3064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115568" y="8147304"/>
            <a:ext cx="502920" cy="329184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Aptos"/>
              </a:rPr>
              <a:t>03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737360" y="8174736"/>
            <a:ext cx="6949440" cy="310896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850" b="1">
                <a:solidFill>
                  <a:srgbClr val="FFFFFF"/>
                </a:solidFill>
                <a:latin typeface="Aptos"/>
              </a:rPr>
              <a:t>METHODOLOGY PIPELINE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1755648" y="9582912"/>
            <a:ext cx="0" cy="12847320"/>
          </a:xfrm>
          <a:prstGeom prst="line">
            <a:avLst/>
          </a:prstGeom>
          <a:ln w="25400">
            <a:solidFill>
              <a:srgbClr val="ACC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Oval 64"/>
          <p:cNvSpPr/>
          <p:nvPr/>
        </p:nvSpPr>
        <p:spPr>
          <a:xfrm>
            <a:off x="1353312" y="9253728"/>
            <a:ext cx="748893" cy="748893"/>
          </a:xfrm>
          <a:prstGeom prst="ellipse">
            <a:avLst/>
          </a:prstGeom>
          <a:solidFill>
            <a:srgbClr val="EFF9F7"/>
          </a:solidFill>
          <a:ln w="1905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Can 65"/>
          <p:cNvSpPr/>
          <p:nvPr/>
        </p:nvSpPr>
        <p:spPr>
          <a:xfrm>
            <a:off x="1564538" y="9445752"/>
            <a:ext cx="345643" cy="403250"/>
          </a:xfrm>
          <a:prstGeom prst="can">
            <a:avLst/>
          </a:prstGeom>
          <a:solidFill>
            <a:srgbClr val="DBF0F9"/>
          </a:solidFill>
          <a:ln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304288" y="9272016"/>
            <a:ext cx="6355079" cy="365760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600" b="1">
                <a:solidFill>
                  <a:srgbClr val="133043"/>
                </a:solidFill>
                <a:latin typeface="Aptos"/>
              </a:rPr>
              <a:t>Data collection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304288" y="9692640"/>
            <a:ext cx="6355079" cy="310896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180" b="0">
                <a:solidFill>
                  <a:srgbClr val="57606A"/>
                </a:solidFill>
                <a:latin typeface="Aptos"/>
              </a:rPr>
              <a:t>OPSD hourly data</a:t>
            </a:r>
          </a:p>
        </p:txBody>
      </p:sp>
      <p:sp>
        <p:nvSpPr>
          <p:cNvPr id="69" name="Down Arrow 68"/>
          <p:cNvSpPr/>
          <p:nvPr/>
        </p:nvSpPr>
        <p:spPr>
          <a:xfrm>
            <a:off x="1627632" y="10589849"/>
            <a:ext cx="256032" cy="384048"/>
          </a:xfrm>
          <a:prstGeom prst="downArrow">
            <a:avLst/>
          </a:prstGeom>
          <a:solidFill>
            <a:srgbClr val="2A9D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1353312" y="11823192"/>
            <a:ext cx="748893" cy="748893"/>
          </a:xfrm>
          <a:prstGeom prst="ellipse">
            <a:avLst/>
          </a:prstGeom>
          <a:solidFill>
            <a:srgbClr val="EFF9F7"/>
          </a:solidFill>
          <a:ln w="19050">
            <a:solidFill>
              <a:srgbClr val="3064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Pentagon 70"/>
          <p:cNvSpPr/>
          <p:nvPr/>
        </p:nvSpPr>
        <p:spPr>
          <a:xfrm>
            <a:off x="1564538" y="11996013"/>
            <a:ext cx="345643" cy="412851"/>
          </a:xfrm>
          <a:prstGeom prst="homePlate">
            <a:avLst/>
          </a:prstGeom>
          <a:solidFill>
            <a:srgbClr val="E8F6F0"/>
          </a:solidFill>
          <a:ln>
            <a:solidFill>
              <a:srgbClr val="3064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612544" y="12111228"/>
            <a:ext cx="249631" cy="115214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840" b="1">
                <a:solidFill>
                  <a:srgbClr val="3064A2"/>
                </a:solidFill>
                <a:latin typeface="Aptos"/>
              </a:rPr>
              <a:t>✓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304288" y="11841480"/>
            <a:ext cx="6355079" cy="365760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600" b="1">
                <a:solidFill>
                  <a:srgbClr val="133043"/>
                </a:solidFill>
                <a:latin typeface="Aptos"/>
              </a:rPr>
              <a:t>Preprocessing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304288" y="12262104"/>
            <a:ext cx="6355079" cy="310896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180" b="0">
                <a:solidFill>
                  <a:srgbClr val="57606A"/>
                </a:solidFill>
                <a:latin typeface="Aptos"/>
              </a:rPr>
              <a:t>interpolate, align UTC</a:t>
            </a:r>
          </a:p>
        </p:txBody>
      </p:sp>
      <p:sp>
        <p:nvSpPr>
          <p:cNvPr id="75" name="Down Arrow 74"/>
          <p:cNvSpPr/>
          <p:nvPr/>
        </p:nvSpPr>
        <p:spPr>
          <a:xfrm>
            <a:off x="1627632" y="13159313"/>
            <a:ext cx="256032" cy="384048"/>
          </a:xfrm>
          <a:prstGeom prst="downArrow">
            <a:avLst/>
          </a:prstGeom>
          <a:solidFill>
            <a:srgbClr val="2A9D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1353312" y="14392656"/>
            <a:ext cx="748893" cy="748893"/>
          </a:xfrm>
          <a:prstGeom prst="ellipse">
            <a:avLst/>
          </a:prstGeom>
          <a:solidFill>
            <a:srgbClr val="EFF9F7"/>
          </a:solidFill>
          <a:ln w="1905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1564538" y="14603882"/>
            <a:ext cx="326440" cy="326440"/>
          </a:xfrm>
          <a:prstGeom prst="rect">
            <a:avLst/>
          </a:prstGeom>
          <a:solidFill>
            <a:srgbClr val="DAF4EE"/>
          </a:solidFill>
          <a:ln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8" name="Connector 77"/>
          <p:cNvCxnSpPr/>
          <p:nvPr/>
        </p:nvCxnSpPr>
        <p:spPr>
          <a:xfrm>
            <a:off x="1506931" y="14767102"/>
            <a:ext cx="57607" cy="0"/>
          </a:xfrm>
          <a:prstGeom prst="line">
            <a:avLst/>
          </a:prstGeom>
          <a:ln w="12700">
            <a:solidFill>
              <a:srgbClr val="0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H="1">
            <a:off x="1890979" y="14767102"/>
            <a:ext cx="48006" cy="0"/>
          </a:xfrm>
          <a:prstGeom prst="line">
            <a:avLst/>
          </a:prstGeom>
          <a:ln w="12700">
            <a:solidFill>
              <a:srgbClr val="0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TextBox 79"/>
          <p:cNvSpPr txBox="1"/>
          <p:nvPr/>
        </p:nvSpPr>
        <p:spPr>
          <a:xfrm>
            <a:off x="1593342" y="14671090"/>
            <a:ext cx="268833" cy="134416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577" b="1">
                <a:solidFill>
                  <a:srgbClr val="008080"/>
                </a:solidFill>
                <a:latin typeface="Aptos"/>
              </a:rPr>
              <a:t>AI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304288" y="14410944"/>
            <a:ext cx="6355079" cy="365760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600" b="1">
                <a:solidFill>
                  <a:srgbClr val="133043"/>
                </a:solidFill>
                <a:latin typeface="Aptos"/>
              </a:rPr>
              <a:t>Feature engineering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304288" y="14831568"/>
            <a:ext cx="6355079" cy="310896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180" b="0">
                <a:solidFill>
                  <a:srgbClr val="57606A"/>
                </a:solidFill>
                <a:latin typeface="Aptos"/>
              </a:rPr>
              <a:t>lags, RES, TSO zones</a:t>
            </a:r>
          </a:p>
        </p:txBody>
      </p:sp>
      <p:sp>
        <p:nvSpPr>
          <p:cNvPr id="83" name="Down Arrow 82"/>
          <p:cNvSpPr/>
          <p:nvPr/>
        </p:nvSpPr>
        <p:spPr>
          <a:xfrm>
            <a:off x="1627632" y="15728777"/>
            <a:ext cx="256032" cy="384048"/>
          </a:xfrm>
          <a:prstGeom prst="downArrow">
            <a:avLst/>
          </a:prstGeom>
          <a:solidFill>
            <a:srgbClr val="2A9D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1353312" y="16962120"/>
            <a:ext cx="748893" cy="748893"/>
          </a:xfrm>
          <a:prstGeom prst="ellipse">
            <a:avLst/>
          </a:prstGeom>
          <a:solidFill>
            <a:srgbClr val="EFF9F7"/>
          </a:solidFill>
          <a:ln w="19050">
            <a:solidFill>
              <a:srgbClr val="3064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564538" y="17173346"/>
            <a:ext cx="326440" cy="326440"/>
          </a:xfrm>
          <a:prstGeom prst="rect">
            <a:avLst/>
          </a:prstGeom>
          <a:solidFill>
            <a:srgbClr val="DAF4EE"/>
          </a:solidFill>
          <a:ln>
            <a:solidFill>
              <a:srgbClr val="3064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6" name="Connector 85"/>
          <p:cNvCxnSpPr/>
          <p:nvPr/>
        </p:nvCxnSpPr>
        <p:spPr>
          <a:xfrm>
            <a:off x="1506931" y="17336566"/>
            <a:ext cx="57607" cy="0"/>
          </a:xfrm>
          <a:prstGeom prst="line">
            <a:avLst/>
          </a:prstGeom>
          <a:ln w="12700">
            <a:solidFill>
              <a:srgbClr val="3064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H="1">
            <a:off x="1890979" y="17336566"/>
            <a:ext cx="48006" cy="0"/>
          </a:xfrm>
          <a:prstGeom prst="line">
            <a:avLst/>
          </a:prstGeom>
          <a:ln w="12700">
            <a:solidFill>
              <a:srgbClr val="3064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TextBox 87"/>
          <p:cNvSpPr txBox="1"/>
          <p:nvPr/>
        </p:nvSpPr>
        <p:spPr>
          <a:xfrm>
            <a:off x="1593342" y="17240554"/>
            <a:ext cx="268833" cy="134416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577" b="1">
                <a:solidFill>
                  <a:srgbClr val="3064A2"/>
                </a:solidFill>
                <a:latin typeface="Aptos"/>
              </a:rPr>
              <a:t>AI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304288" y="16980408"/>
            <a:ext cx="6355079" cy="365760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600" b="1">
                <a:solidFill>
                  <a:srgbClr val="133043"/>
                </a:solidFill>
                <a:latin typeface="Aptos"/>
              </a:rPr>
              <a:t>Modeling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304288" y="17401032"/>
            <a:ext cx="6355079" cy="310896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180" b="0">
                <a:solidFill>
                  <a:srgbClr val="57606A"/>
                </a:solidFill>
                <a:latin typeface="Aptos"/>
              </a:rPr>
              <a:t>LR, SVM, RF, HGB, NN</a:t>
            </a:r>
          </a:p>
        </p:txBody>
      </p:sp>
      <p:sp>
        <p:nvSpPr>
          <p:cNvPr id="91" name="Down Arrow 90"/>
          <p:cNvSpPr/>
          <p:nvPr/>
        </p:nvSpPr>
        <p:spPr>
          <a:xfrm>
            <a:off x="1627632" y="18298241"/>
            <a:ext cx="256032" cy="384048"/>
          </a:xfrm>
          <a:prstGeom prst="downArrow">
            <a:avLst/>
          </a:prstGeom>
          <a:solidFill>
            <a:srgbClr val="2A9D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1353312" y="19531584"/>
            <a:ext cx="748893" cy="748893"/>
          </a:xfrm>
          <a:prstGeom prst="ellipse">
            <a:avLst/>
          </a:prstGeom>
          <a:solidFill>
            <a:srgbClr val="EFF9F7"/>
          </a:solidFill>
          <a:ln w="1905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564538" y="19934834"/>
            <a:ext cx="67208" cy="172821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670151" y="19819620"/>
            <a:ext cx="67208" cy="288036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775764" y="19704405"/>
            <a:ext cx="67208" cy="403250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2304288" y="19549872"/>
            <a:ext cx="6355079" cy="365760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600" b="1">
                <a:solidFill>
                  <a:srgbClr val="133043"/>
                </a:solidFill>
                <a:latin typeface="Aptos"/>
              </a:rPr>
              <a:t>Evaluation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2304288" y="19970496"/>
            <a:ext cx="6355079" cy="310896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180" b="0">
                <a:solidFill>
                  <a:srgbClr val="57606A"/>
                </a:solidFill>
                <a:latin typeface="Aptos"/>
              </a:rPr>
              <a:t>F1, AUC, runtime</a:t>
            </a:r>
          </a:p>
        </p:txBody>
      </p:sp>
      <p:sp>
        <p:nvSpPr>
          <p:cNvPr id="98" name="Down Arrow 97"/>
          <p:cNvSpPr/>
          <p:nvPr/>
        </p:nvSpPr>
        <p:spPr>
          <a:xfrm>
            <a:off x="1627632" y="20867705"/>
            <a:ext cx="256032" cy="384048"/>
          </a:xfrm>
          <a:prstGeom prst="downArrow">
            <a:avLst/>
          </a:prstGeom>
          <a:solidFill>
            <a:srgbClr val="2A9D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1353312" y="22101048"/>
            <a:ext cx="748893" cy="748893"/>
          </a:xfrm>
          <a:prstGeom prst="ellipse">
            <a:avLst/>
          </a:prstGeom>
          <a:solidFill>
            <a:srgbClr val="EFF9F7"/>
          </a:solidFill>
          <a:ln w="19050">
            <a:solidFill>
              <a:srgbClr val="3064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 rot="19920000">
            <a:off x="1593342" y="22283470"/>
            <a:ext cx="345643" cy="230428"/>
          </a:xfrm>
          <a:prstGeom prst="ellipse">
            <a:avLst/>
          </a:prstGeom>
          <a:solidFill>
            <a:srgbClr val="5BB876"/>
          </a:solidFill>
          <a:ln>
            <a:solidFill>
              <a:srgbClr val="3064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2304288" y="22119336"/>
            <a:ext cx="6355079" cy="365760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600" b="1">
                <a:solidFill>
                  <a:srgbClr val="133043"/>
                </a:solidFill>
                <a:latin typeface="Aptos"/>
              </a:rPr>
              <a:t>Insights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2304288" y="22539960"/>
            <a:ext cx="6355079" cy="310896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180" b="0">
                <a:solidFill>
                  <a:srgbClr val="57606A"/>
                </a:solidFill>
                <a:latin typeface="Aptos"/>
              </a:rPr>
              <a:t>Pareto + guidance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9372600" y="8110728"/>
            <a:ext cx="11795760" cy="6766560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ounded Rectangle 103"/>
          <p:cNvSpPr/>
          <p:nvPr/>
        </p:nvSpPr>
        <p:spPr>
          <a:xfrm>
            <a:off x="9372600" y="8110728"/>
            <a:ext cx="11795760" cy="438912"/>
          </a:xfrm>
          <a:prstGeom prst="round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9573768" y="8147304"/>
            <a:ext cx="502920" cy="329184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Aptos"/>
              </a:rPr>
              <a:t>04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195560" y="8174736"/>
            <a:ext cx="10789920" cy="310896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850" b="1">
                <a:solidFill>
                  <a:srgbClr val="FFFFFF"/>
                </a:solidFill>
                <a:latin typeface="Aptos"/>
              </a:rPr>
              <a:t>RESEARCH QUESTIONS</a:t>
            </a:r>
          </a:p>
        </p:txBody>
      </p:sp>
      <p:sp>
        <p:nvSpPr>
          <p:cNvPr id="107" name="Oval 106"/>
          <p:cNvSpPr/>
          <p:nvPr/>
        </p:nvSpPr>
        <p:spPr>
          <a:xfrm>
            <a:off x="9811512" y="8915400"/>
            <a:ext cx="438912" cy="438912"/>
          </a:xfrm>
          <a:prstGeom prst="ellipse">
            <a:avLst/>
          </a:prstGeom>
          <a:solidFill>
            <a:srgbClr val="2A9D67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9811512" y="8954902"/>
            <a:ext cx="438912" cy="254568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135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415016" y="8942832"/>
            <a:ext cx="10131552" cy="402336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500" b="0">
                <a:solidFill>
                  <a:srgbClr val="133043"/>
                </a:solidFill>
                <a:latin typeface="Aptos"/>
              </a:rPr>
              <a:t>Which model is Pareto-efficient?</a:t>
            </a:r>
          </a:p>
        </p:txBody>
      </p:sp>
      <p:sp>
        <p:nvSpPr>
          <p:cNvPr id="110" name="Oval 109"/>
          <p:cNvSpPr/>
          <p:nvPr/>
        </p:nvSpPr>
        <p:spPr>
          <a:xfrm>
            <a:off x="9811512" y="9665208"/>
            <a:ext cx="438912" cy="438912"/>
          </a:xfrm>
          <a:prstGeom prst="ellipse">
            <a:avLst/>
          </a:prstGeom>
          <a:solidFill>
            <a:srgbClr val="2A9D67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9811512" y="9704710"/>
            <a:ext cx="438912" cy="254568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135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0415016" y="9692640"/>
            <a:ext cx="10131552" cy="402336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500" b="0">
                <a:solidFill>
                  <a:srgbClr val="133043"/>
                </a:solidFill>
                <a:latin typeface="Aptos"/>
              </a:rPr>
              <a:t>Which feature families add value?</a:t>
            </a:r>
          </a:p>
        </p:txBody>
      </p:sp>
      <p:sp>
        <p:nvSpPr>
          <p:cNvPr id="113" name="Oval 112"/>
          <p:cNvSpPr/>
          <p:nvPr/>
        </p:nvSpPr>
        <p:spPr>
          <a:xfrm>
            <a:off x="9811512" y="10415016"/>
            <a:ext cx="438912" cy="438912"/>
          </a:xfrm>
          <a:prstGeom prst="ellipse">
            <a:avLst/>
          </a:prstGeom>
          <a:solidFill>
            <a:srgbClr val="2A9D67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9811512" y="10454518"/>
            <a:ext cx="438912" cy="254568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135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415016" y="10442448"/>
            <a:ext cx="10131552" cy="402336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500" b="0">
                <a:solidFill>
                  <a:srgbClr val="133043"/>
                </a:solidFill>
                <a:latin typeface="Aptos"/>
              </a:rPr>
              <a:t>Are rankings seasonally stable?</a:t>
            </a:r>
          </a:p>
        </p:txBody>
      </p:sp>
      <p:sp>
        <p:nvSpPr>
          <p:cNvPr id="116" name="Oval 115"/>
          <p:cNvSpPr/>
          <p:nvPr/>
        </p:nvSpPr>
        <p:spPr>
          <a:xfrm>
            <a:off x="9811512" y="11164824"/>
            <a:ext cx="438912" cy="438912"/>
          </a:xfrm>
          <a:prstGeom prst="ellipse">
            <a:avLst/>
          </a:prstGeom>
          <a:solidFill>
            <a:srgbClr val="2A9D67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9811512" y="11204326"/>
            <a:ext cx="438912" cy="254568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135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0415016" y="11192256"/>
            <a:ext cx="10131552" cy="402336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500" b="0">
                <a:solidFill>
                  <a:srgbClr val="133043"/>
                </a:solidFill>
                <a:latin typeface="Aptos"/>
              </a:rPr>
              <a:t>Can simple models explain drivers?</a:t>
            </a:r>
          </a:p>
        </p:txBody>
      </p:sp>
      <p:sp>
        <p:nvSpPr>
          <p:cNvPr id="119" name="Oval 118"/>
          <p:cNvSpPr/>
          <p:nvPr/>
        </p:nvSpPr>
        <p:spPr>
          <a:xfrm>
            <a:off x="9811512" y="11914632"/>
            <a:ext cx="438912" cy="438912"/>
          </a:xfrm>
          <a:prstGeom prst="ellipse">
            <a:avLst/>
          </a:prstGeom>
          <a:solidFill>
            <a:srgbClr val="2A9D67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9811512" y="11954134"/>
            <a:ext cx="438912" cy="254568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135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415016" y="11942064"/>
            <a:ext cx="10131552" cy="402336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500" b="0">
                <a:solidFill>
                  <a:srgbClr val="133043"/>
                </a:solidFill>
                <a:latin typeface="Aptos"/>
              </a:rPr>
              <a:t>Do green training windows help?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21762720" y="8110728"/>
            <a:ext cx="21214080" cy="9601200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ounded Rectangle 122"/>
          <p:cNvSpPr/>
          <p:nvPr/>
        </p:nvSpPr>
        <p:spPr>
          <a:xfrm>
            <a:off x="21762720" y="8110728"/>
            <a:ext cx="21214080" cy="438912"/>
          </a:xfrm>
          <a:prstGeom prst="roundRect">
            <a:avLst/>
          </a:prstGeom>
          <a:solidFill>
            <a:srgbClr val="3064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21963888" y="8147304"/>
            <a:ext cx="502920" cy="329184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Aptos"/>
              </a:rPr>
              <a:t>05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22585680" y="8174736"/>
            <a:ext cx="20208239" cy="310896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850" b="1">
                <a:solidFill>
                  <a:srgbClr val="FFFFFF"/>
                </a:solidFill>
                <a:latin typeface="Aptos"/>
              </a:rPr>
              <a:t>KEY RESULTS (HIGHLIGHTS)</a:t>
            </a:r>
          </a:p>
        </p:txBody>
      </p:sp>
      <p:graphicFrame>
        <p:nvGraphicFramePr>
          <p:cNvPr id="126" name="Chart 125"/>
          <p:cNvGraphicFramePr>
            <a:graphicFrameLocks noGrp="1"/>
          </p:cNvGraphicFramePr>
          <p:nvPr/>
        </p:nvGraphicFramePr>
        <p:xfrm>
          <a:off x="22265640" y="8869680"/>
          <a:ext cx="9295790" cy="3479749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27" name="Chart 126"/>
          <p:cNvGraphicFramePr>
            <a:graphicFrameLocks noGrp="1"/>
          </p:cNvGraphicFramePr>
          <p:nvPr/>
        </p:nvGraphicFramePr>
        <p:xfrm>
          <a:off x="32369760" y="8869680"/>
          <a:ext cx="9699955" cy="3479749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128" name="Chart 127"/>
          <p:cNvGraphicFramePr>
            <a:graphicFrameLocks noGrp="1"/>
          </p:cNvGraphicFramePr>
          <p:nvPr/>
        </p:nvGraphicFramePr>
        <p:xfrm>
          <a:off x="22265640" y="12915900"/>
          <a:ext cx="9295790" cy="3398824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29" name="TextBox 128"/>
          <p:cNvSpPr txBox="1"/>
          <p:nvPr/>
        </p:nvSpPr>
        <p:spPr>
          <a:xfrm>
            <a:off x="33380172" y="13320522"/>
            <a:ext cx="3233318" cy="457200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3600" b="1">
                <a:solidFill>
                  <a:srgbClr val="2A9D67"/>
                </a:solidFill>
                <a:latin typeface="Aptos"/>
              </a:rPr>
              <a:t>31.9%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33380172" y="13887450"/>
            <a:ext cx="3233318" cy="438912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1320" b="0">
                <a:solidFill>
                  <a:srgbClr val="57606A"/>
                </a:solidFill>
                <a:latin typeface="Aptos"/>
              </a:rPr>
              <a:t>green-window reduction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6815572" y="13320522"/>
            <a:ext cx="2627071" cy="457200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3600" b="1">
                <a:solidFill>
                  <a:srgbClr val="008080"/>
                </a:solidFill>
                <a:latin typeface="Aptos"/>
              </a:rPr>
              <a:t>0.899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6815572" y="13887450"/>
            <a:ext cx="2627071" cy="438912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1320" b="0">
                <a:solidFill>
                  <a:srgbClr val="57606A"/>
                </a:solidFill>
                <a:latin typeface="Aptos"/>
              </a:rPr>
              <a:t>best F1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9442644" y="13320522"/>
            <a:ext cx="2424988" cy="457200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3600" b="1">
                <a:solidFill>
                  <a:srgbClr val="3064A2"/>
                </a:solidFill>
                <a:latin typeface="Aptos"/>
              </a:rPr>
              <a:t>0.993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9442644" y="13887450"/>
            <a:ext cx="2424988" cy="438912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1320" b="0">
                <a:solidFill>
                  <a:srgbClr val="57606A"/>
                </a:solidFill>
                <a:latin typeface="Aptos"/>
              </a:rPr>
              <a:t>ROC-AUC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32773924" y="15181783"/>
            <a:ext cx="8891625" cy="841248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1450" b="1">
                <a:solidFill>
                  <a:srgbClr val="133043"/>
                </a:solidFill>
                <a:latin typeface="Aptos"/>
              </a:rPr>
              <a:t>HGB is the balanced recommendation; Linear SVM is the lowest-compute fallback.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9372600" y="15334488"/>
            <a:ext cx="11795760" cy="4892040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ounded Rectangle 136"/>
          <p:cNvSpPr/>
          <p:nvPr/>
        </p:nvSpPr>
        <p:spPr>
          <a:xfrm>
            <a:off x="9372600" y="15334488"/>
            <a:ext cx="11795760" cy="438912"/>
          </a:xfrm>
          <a:prstGeom prst="roundRect">
            <a:avLst/>
          </a:prstGeom>
          <a:solidFill>
            <a:srgbClr val="2A9D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9573768" y="15371064"/>
            <a:ext cx="502920" cy="329184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Aptos"/>
              </a:rPr>
              <a:t>06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0195560" y="15398496"/>
            <a:ext cx="10789920" cy="310896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850" b="1">
                <a:solidFill>
                  <a:srgbClr val="FFFFFF"/>
                </a:solidFill>
                <a:latin typeface="Aptos"/>
              </a:rPr>
              <a:t>KEY FINDINGS</a:t>
            </a:r>
          </a:p>
        </p:txBody>
      </p:sp>
      <p:sp>
        <p:nvSpPr>
          <p:cNvPr id="140" name="Oval 139"/>
          <p:cNvSpPr/>
          <p:nvPr/>
        </p:nvSpPr>
        <p:spPr>
          <a:xfrm>
            <a:off x="9811512" y="16084296"/>
            <a:ext cx="342351" cy="342351"/>
          </a:xfrm>
          <a:prstGeom prst="ellipse">
            <a:avLst/>
          </a:prstGeom>
          <a:solidFill>
            <a:srgbClr val="EFF9F7"/>
          </a:solidFill>
          <a:ln w="19050">
            <a:solidFill>
              <a:srgbClr val="2A9D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Pentagon 140"/>
          <p:cNvSpPr/>
          <p:nvPr/>
        </p:nvSpPr>
        <p:spPr>
          <a:xfrm>
            <a:off x="9908072" y="16163300"/>
            <a:ext cx="158008" cy="188732"/>
          </a:xfrm>
          <a:prstGeom prst="homePlate">
            <a:avLst/>
          </a:prstGeom>
          <a:solidFill>
            <a:srgbClr val="E8F6F0"/>
          </a:solidFill>
          <a:ln>
            <a:solidFill>
              <a:srgbClr val="2A9D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9930018" y="16215969"/>
            <a:ext cx="114117" cy="52669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384" b="1">
                <a:solidFill>
                  <a:srgbClr val="2A9D67"/>
                </a:solidFill>
                <a:latin typeface="Aptos"/>
              </a:rPr>
              <a:t>✓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0314432" y="16111728"/>
            <a:ext cx="10287000" cy="310896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400" b="0">
                <a:solidFill>
                  <a:srgbClr val="133043"/>
                </a:solidFill>
                <a:latin typeface="Aptos"/>
              </a:rPr>
              <a:t>HGB: best F1 and Pareto-efficient.</a:t>
            </a:r>
          </a:p>
        </p:txBody>
      </p:sp>
      <p:sp>
        <p:nvSpPr>
          <p:cNvPr id="144" name="Oval 143"/>
          <p:cNvSpPr/>
          <p:nvPr/>
        </p:nvSpPr>
        <p:spPr>
          <a:xfrm>
            <a:off x="9811512" y="16770096"/>
            <a:ext cx="342351" cy="342351"/>
          </a:xfrm>
          <a:prstGeom prst="ellipse">
            <a:avLst/>
          </a:prstGeom>
          <a:solidFill>
            <a:srgbClr val="EFF9F7"/>
          </a:solidFill>
          <a:ln w="19050">
            <a:solidFill>
              <a:srgbClr val="3064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Pentagon 144"/>
          <p:cNvSpPr/>
          <p:nvPr/>
        </p:nvSpPr>
        <p:spPr>
          <a:xfrm>
            <a:off x="9908072" y="16849100"/>
            <a:ext cx="158008" cy="188732"/>
          </a:xfrm>
          <a:prstGeom prst="homePlate">
            <a:avLst/>
          </a:prstGeom>
          <a:solidFill>
            <a:srgbClr val="E8F6F0"/>
          </a:solidFill>
          <a:ln>
            <a:solidFill>
              <a:srgbClr val="3064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9930018" y="16901769"/>
            <a:ext cx="114117" cy="52669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384" b="1">
                <a:solidFill>
                  <a:srgbClr val="3064A2"/>
                </a:solidFill>
                <a:latin typeface="Aptos"/>
              </a:rPr>
              <a:t>✓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0314432" y="16797528"/>
            <a:ext cx="10287000" cy="310896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400" b="0">
                <a:solidFill>
                  <a:srgbClr val="133043"/>
                </a:solidFill>
                <a:latin typeface="Aptos"/>
              </a:rPr>
              <a:t>Load history gives the largest feature gain.</a:t>
            </a:r>
          </a:p>
        </p:txBody>
      </p:sp>
      <p:sp>
        <p:nvSpPr>
          <p:cNvPr id="148" name="Oval 147"/>
          <p:cNvSpPr/>
          <p:nvPr/>
        </p:nvSpPr>
        <p:spPr>
          <a:xfrm>
            <a:off x="9811512" y="17455896"/>
            <a:ext cx="342351" cy="342351"/>
          </a:xfrm>
          <a:prstGeom prst="ellipse">
            <a:avLst/>
          </a:prstGeom>
          <a:solidFill>
            <a:srgbClr val="EFF9F7"/>
          </a:solidFill>
          <a:ln w="19050">
            <a:solidFill>
              <a:srgbClr val="2A9D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Pentagon 148"/>
          <p:cNvSpPr/>
          <p:nvPr/>
        </p:nvSpPr>
        <p:spPr>
          <a:xfrm>
            <a:off x="9908072" y="17534900"/>
            <a:ext cx="158008" cy="188732"/>
          </a:xfrm>
          <a:prstGeom prst="homePlate">
            <a:avLst/>
          </a:prstGeom>
          <a:solidFill>
            <a:srgbClr val="E8F6F0"/>
          </a:solidFill>
          <a:ln>
            <a:solidFill>
              <a:srgbClr val="2A9D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9930018" y="17587569"/>
            <a:ext cx="114117" cy="52669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384" b="1">
                <a:solidFill>
                  <a:srgbClr val="2A9D67"/>
                </a:solidFill>
                <a:latin typeface="Aptos"/>
              </a:rPr>
              <a:t>✓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0314432" y="17483328"/>
            <a:ext cx="10287000" cy="310896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400" b="0">
                <a:solidFill>
                  <a:srgbClr val="133043"/>
                </a:solidFill>
                <a:latin typeface="Aptos"/>
              </a:rPr>
              <a:t>Summer is the hardest seasonal regime.</a:t>
            </a:r>
          </a:p>
        </p:txBody>
      </p:sp>
      <p:sp>
        <p:nvSpPr>
          <p:cNvPr id="152" name="Oval 151"/>
          <p:cNvSpPr/>
          <p:nvPr/>
        </p:nvSpPr>
        <p:spPr>
          <a:xfrm>
            <a:off x="9811512" y="18141696"/>
            <a:ext cx="342351" cy="342351"/>
          </a:xfrm>
          <a:prstGeom prst="ellipse">
            <a:avLst/>
          </a:prstGeom>
          <a:solidFill>
            <a:srgbClr val="EFF9F7"/>
          </a:solidFill>
          <a:ln w="19050">
            <a:solidFill>
              <a:srgbClr val="3064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Pentagon 152"/>
          <p:cNvSpPr/>
          <p:nvPr/>
        </p:nvSpPr>
        <p:spPr>
          <a:xfrm>
            <a:off x="9908072" y="18220700"/>
            <a:ext cx="158008" cy="188732"/>
          </a:xfrm>
          <a:prstGeom prst="homePlate">
            <a:avLst/>
          </a:prstGeom>
          <a:solidFill>
            <a:srgbClr val="E8F6F0"/>
          </a:solidFill>
          <a:ln>
            <a:solidFill>
              <a:srgbClr val="3064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9930018" y="18273369"/>
            <a:ext cx="114117" cy="52669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384" b="1">
                <a:solidFill>
                  <a:srgbClr val="3064A2"/>
                </a:solidFill>
                <a:latin typeface="Aptos"/>
              </a:rPr>
              <a:t>✓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0314432" y="18169128"/>
            <a:ext cx="10287000" cy="310896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400" b="0">
                <a:solidFill>
                  <a:srgbClr val="133043"/>
                </a:solidFill>
                <a:latin typeface="Aptos"/>
              </a:rPr>
              <a:t>Use low-compute baselines for auditability.</a:t>
            </a:r>
          </a:p>
        </p:txBody>
      </p:sp>
      <p:sp>
        <p:nvSpPr>
          <p:cNvPr id="156" name="Rounded Rectangle 155"/>
          <p:cNvSpPr/>
          <p:nvPr/>
        </p:nvSpPr>
        <p:spPr>
          <a:xfrm>
            <a:off x="21762720" y="18169128"/>
            <a:ext cx="21214080" cy="4800600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ounded Rectangle 156"/>
          <p:cNvSpPr/>
          <p:nvPr/>
        </p:nvSpPr>
        <p:spPr>
          <a:xfrm>
            <a:off x="21762720" y="18169128"/>
            <a:ext cx="21214080" cy="438912"/>
          </a:xfrm>
          <a:prstGeom prst="round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21963888" y="18205704"/>
            <a:ext cx="502920" cy="329184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Aptos"/>
              </a:rPr>
              <a:t>07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22585680" y="18233136"/>
            <a:ext cx="20208239" cy="310896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850" b="1">
                <a:solidFill>
                  <a:srgbClr val="FFFFFF"/>
                </a:solidFill>
                <a:latin typeface="Aptos"/>
              </a:rPr>
              <a:t>CONCLUSION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22265640" y="18918936"/>
            <a:ext cx="20116800" cy="1170432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1800" b="1">
                <a:solidFill>
                  <a:srgbClr val="133043"/>
                </a:solidFill>
                <a:latin typeface="Aptos"/>
              </a:rPr>
              <a:t>Responsible model selection should be Pareto-based: accuracy, carbon proxy, runtime, model size, seasonal robustness and auditability are evaluated together.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22448520" y="20500848"/>
            <a:ext cx="19659600" cy="932688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1350" b="0">
                <a:solidFill>
                  <a:srgbClr val="57606A"/>
                </a:solidFill>
                <a:latin typeface="Aptos"/>
              </a:rPr>
              <a:t>Recommended balanced model: Histogram Gradient Boosting. Recommended low-compute fallback: Linear SVM. Next step: replace proxy energy with measured hardware power.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0" y="24003000"/>
            <a:ext cx="43891200" cy="685800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1005840" y="24112728"/>
            <a:ext cx="40965120" cy="310896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Aptos"/>
              </a:rPr>
              <a:t>Dataset: Open Power System Data Time Series (2020-10-06) | Reproducible notebooks, figures, tables, workflow, and IEEE/PES report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