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43891200" cy="2468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F1 by model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by model</c:v>
                </c:pt>
              </c:strCache>
            </c:strRef>
          </c:tx>
          <c:spPr>
            <a:solidFill>
              <a:srgbClr val="00897B"/>
            </a:solidFill>
          </c:spPr>
          <c:cat>
            <c:strRef>
              <c:f>Sheet1!$A$2:$A$6</c:f>
              <c:strCache>
                <c:ptCount val="5"/>
                <c:pt idx="0">
                  <c:v>HGB</c:v>
                </c:pt>
                <c:pt idx="1">
                  <c:v>NN</c:v>
                </c:pt>
                <c:pt idx="2">
                  <c:v>RF</c:v>
                </c:pt>
                <c:pt idx="3">
                  <c:v>LR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0.899</c:v>
                </c:pt>
                <c:pt idx="1">
                  <c:v>0.897</c:v>
                </c:pt>
                <c:pt idx="2">
                  <c:v>0.89</c:v>
                </c:pt>
                <c:pt idx="3">
                  <c:v>0.728</c:v>
                </c:pt>
                <c:pt idx="4">
                  <c:v>0.723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Feature ablation F1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 ablation F1</c:v>
                </c:pt>
              </c:strCache>
            </c:strRef>
          </c:tx>
          <c:spPr>
            <a:solidFill>
              <a:srgbClr val="2F9E44"/>
            </a:solidFill>
          </c:spPr>
          <c:cat>
            <c:strRef>
              <c:f>Sheet1!$A$2:$A$6</c:f>
              <c:strCache>
                <c:ptCount val="5"/>
                <c:pt idx="0">
                  <c:v>Cal</c:v>
                </c:pt>
                <c:pt idx="1">
                  <c:v>+Load</c:v>
                </c:pt>
                <c:pt idx="2">
                  <c:v>+RES</c:v>
                </c:pt>
                <c:pt idx="3">
                  <c:v>+TSO</c:v>
                </c:pt>
                <c:pt idx="4">
                  <c:v>Full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0.813</c:v>
                </c:pt>
                <c:pt idx="1">
                  <c:v>0.904</c:v>
                </c:pt>
                <c:pt idx="2">
                  <c:v>0.889</c:v>
                </c:pt>
                <c:pt idx="3">
                  <c:v>0.902</c:v>
                </c:pt>
                <c:pt idx="4">
                  <c:v>0.899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Carbon proxy (mg CO2e)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Carbon proxy (mg CO2e)</c:v>
                </c:pt>
              </c:strCache>
            </c:strRef>
          </c:tx>
          <c:spPr>
            <a:solidFill>
              <a:srgbClr val="2A6F97"/>
            </a:solidFill>
          </c:spPr>
          <c:cat>
            <c:strRef>
              <c:f>Sheet1!$A$2:$A$6</c:f>
              <c:strCache>
                <c:ptCount val="5"/>
                <c:pt idx="0">
                  <c:v>SVM</c:v>
                </c:pt>
                <c:pt idx="1">
                  <c:v>LR</c:v>
                </c:pt>
                <c:pt idx="2">
                  <c:v>HGB</c:v>
                </c:pt>
                <c:pt idx="3">
                  <c:v>RF</c:v>
                </c:pt>
                <c:pt idx="4">
                  <c:v>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5.06</c:v>
                </c:pt>
                <c:pt idx="2">
                  <c:v>6.59</c:v>
                </c:pt>
                <c:pt idx="3">
                  <c:v>11.01</c:v>
                </c:pt>
                <c:pt idx="4">
                  <c:v>28.44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F1 by model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by model</c:v>
                </c:pt>
              </c:strCache>
            </c:strRef>
          </c:tx>
          <c:spPr>
            <a:solidFill>
              <a:srgbClr val="0E8D82"/>
            </a:solidFill>
          </c:spPr>
          <c:cat>
            <c:strRef>
              <c:f>Sheet1!$A$2:$A$6</c:f>
              <c:strCache>
                <c:ptCount val="5"/>
                <c:pt idx="0">
                  <c:v>HGB</c:v>
                </c:pt>
                <c:pt idx="1">
                  <c:v>NN</c:v>
                </c:pt>
                <c:pt idx="2">
                  <c:v>RF</c:v>
                </c:pt>
                <c:pt idx="3">
                  <c:v>LR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0.899</c:v>
                </c:pt>
                <c:pt idx="1">
                  <c:v>0.897</c:v>
                </c:pt>
                <c:pt idx="2">
                  <c:v>0.89</c:v>
                </c:pt>
                <c:pt idx="3">
                  <c:v>0.728</c:v>
                </c:pt>
                <c:pt idx="4">
                  <c:v>0.723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Feature ablation F1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 ablation F1</c:v>
                </c:pt>
              </c:strCache>
            </c:strRef>
          </c:tx>
          <c:spPr>
            <a:solidFill>
              <a:srgbClr val="46AE5E"/>
            </a:solidFill>
          </c:spPr>
          <c:cat>
            <c:strRef>
              <c:f>Sheet1!$A$2:$A$6</c:f>
              <c:strCache>
                <c:ptCount val="5"/>
                <c:pt idx="0">
                  <c:v>Cal</c:v>
                </c:pt>
                <c:pt idx="1">
                  <c:v>+Load</c:v>
                </c:pt>
                <c:pt idx="2">
                  <c:v>+RES</c:v>
                </c:pt>
                <c:pt idx="3">
                  <c:v>+TSO</c:v>
                </c:pt>
                <c:pt idx="4">
                  <c:v>Full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0.813</c:v>
                </c:pt>
                <c:pt idx="1">
                  <c:v>0.904</c:v>
                </c:pt>
                <c:pt idx="2">
                  <c:v>0.889</c:v>
                </c:pt>
                <c:pt idx="3">
                  <c:v>0.902</c:v>
                </c:pt>
                <c:pt idx="4">
                  <c:v>0.899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Carbon proxy (mg CO2e)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Carbon proxy (mg CO2e)</c:v>
                </c:pt>
              </c:strCache>
            </c:strRef>
          </c:tx>
          <c:spPr>
            <a:solidFill>
              <a:srgbClr val="236792"/>
            </a:solidFill>
          </c:spPr>
          <c:cat>
            <c:strRef>
              <c:f>Sheet1!$A$2:$A$6</c:f>
              <c:strCache>
                <c:ptCount val="5"/>
                <c:pt idx="0">
                  <c:v>SVM</c:v>
                </c:pt>
                <c:pt idx="1">
                  <c:v>LR</c:v>
                </c:pt>
                <c:pt idx="2">
                  <c:v>HGB</c:v>
                </c:pt>
                <c:pt idx="3">
                  <c:v>RF</c:v>
                </c:pt>
                <c:pt idx="4">
                  <c:v>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5.06</c:v>
                </c:pt>
                <c:pt idx="2">
                  <c:v>6.59</c:v>
                </c:pt>
                <c:pt idx="3">
                  <c:v>11.01</c:v>
                </c:pt>
                <c:pt idx="4">
                  <c:v>28.44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F1 by model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by model</c:v>
                </c:pt>
              </c:strCache>
            </c:strRef>
          </c:tx>
          <c:spPr>
            <a:solidFill>
              <a:srgbClr val="008080"/>
            </a:solidFill>
          </c:spPr>
          <c:cat>
            <c:strRef>
              <c:f>Sheet1!$A$2:$A$6</c:f>
              <c:strCache>
                <c:ptCount val="5"/>
                <c:pt idx="0">
                  <c:v>HGB</c:v>
                </c:pt>
                <c:pt idx="1">
                  <c:v>NN</c:v>
                </c:pt>
                <c:pt idx="2">
                  <c:v>RF</c:v>
                </c:pt>
                <c:pt idx="3">
                  <c:v>LR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0.899</c:v>
                </c:pt>
                <c:pt idx="1">
                  <c:v>0.897</c:v>
                </c:pt>
                <c:pt idx="2">
                  <c:v>0.89</c:v>
                </c:pt>
                <c:pt idx="3">
                  <c:v>0.728</c:v>
                </c:pt>
                <c:pt idx="4">
                  <c:v>0.723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Feature ablation F1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 ablation F1</c:v>
                </c:pt>
              </c:strCache>
            </c:strRef>
          </c:tx>
          <c:spPr>
            <a:solidFill>
              <a:srgbClr val="2A9D67"/>
            </a:solidFill>
          </c:spPr>
          <c:cat>
            <c:strRef>
              <c:f>Sheet1!$A$2:$A$6</c:f>
              <c:strCache>
                <c:ptCount val="5"/>
                <c:pt idx="0">
                  <c:v>Cal</c:v>
                </c:pt>
                <c:pt idx="1">
                  <c:v>+Load</c:v>
                </c:pt>
                <c:pt idx="2">
                  <c:v>+RES</c:v>
                </c:pt>
                <c:pt idx="3">
                  <c:v>+TSO</c:v>
                </c:pt>
                <c:pt idx="4">
                  <c:v>Full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0.813</c:v>
                </c:pt>
                <c:pt idx="1">
                  <c:v>0.904</c:v>
                </c:pt>
                <c:pt idx="2">
                  <c:v>0.889</c:v>
                </c:pt>
                <c:pt idx="3">
                  <c:v>0.902</c:v>
                </c:pt>
                <c:pt idx="4">
                  <c:v>0.899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500" b="1"/>
            </a:pPr>
            <a:r>
              <a:t>Carbon proxy (mg CO2e)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Carbon proxy (mg CO2e)</c:v>
                </c:pt>
              </c:strCache>
            </c:strRef>
          </c:tx>
          <c:spPr>
            <a:solidFill>
              <a:srgbClr val="3064A2"/>
            </a:solidFill>
          </c:spPr>
          <c:cat>
            <c:strRef>
              <c:f>Sheet1!$A$2:$A$6</c:f>
              <c:strCache>
                <c:ptCount val="5"/>
                <c:pt idx="0">
                  <c:v>SVM</c:v>
                </c:pt>
                <c:pt idx="1">
                  <c:v>LR</c:v>
                </c:pt>
                <c:pt idx="2">
                  <c:v>HGB</c:v>
                </c:pt>
                <c:pt idx="3">
                  <c:v>RF</c:v>
                </c:pt>
                <c:pt idx="4">
                  <c:v>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5.06</c:v>
                </c:pt>
                <c:pt idx="2">
                  <c:v>6.59</c:v>
                </c:pt>
                <c:pt idx="3">
                  <c:v>11.01</c:v>
                </c:pt>
                <c:pt idx="4">
                  <c:v>28.44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2907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34747200" cy="9144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600" b="1">
                <a:solidFill>
                  <a:srgbClr val="0E2D40"/>
                </a:solidFill>
                <a:latin typeface="Aptos Display"/>
              </a:rPr>
              <a:t>Auditing Carbon-Aware AI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25296"/>
            <a:ext cx="34747200" cy="53035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0E2D40"/>
                </a:solidFill>
                <a:latin typeface="Aptos"/>
              </a:rPr>
              <a:t>Accuracy, Sustainability, Transparency and Robustness in German Power-System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956816"/>
            <a:ext cx="34747200" cy="38404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0">
                <a:solidFill>
                  <a:srgbClr val="596974"/>
                </a:solidFill>
                <a:latin typeface="Aptos"/>
              </a:rPr>
              <a:t>AI, Power &amp; Responsibility - Governing Intelligent Systems for Sustainability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749808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88973" y="1041501"/>
            <a:ext cx="450799" cy="450799"/>
          </a:xfrm>
          <a:prstGeom prst="rect">
            <a:avLst/>
          </a:prstGeom>
          <a:solidFill>
            <a:srgbClr val="DAF4EE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09420" y="1266901"/>
            <a:ext cx="79553" cy="0"/>
          </a:xfrm>
          <a:prstGeom prst="line">
            <a:avLst/>
          </a:prstGeom>
          <a:ln w="127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839772" y="1266901"/>
            <a:ext cx="66294" cy="0"/>
          </a:xfrm>
          <a:prstGeom prst="line">
            <a:avLst/>
          </a:prstGeom>
          <a:ln w="127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28750" y="1134313"/>
            <a:ext cx="371246" cy="185623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797" b="1">
                <a:solidFill>
                  <a:srgbClr val="2A6F97"/>
                </a:solidFill>
                <a:latin typeface="Aptos"/>
              </a:rPr>
              <a:t>AI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749808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9920000">
            <a:off x="2251710" y="1001725"/>
            <a:ext cx="477316" cy="318211"/>
          </a:xfrm>
          <a:prstGeom prst="ellipse">
            <a:avLst/>
          </a:prstGeom>
          <a:solidFill>
            <a:srgbClr val="5BB876"/>
          </a:solidFill>
          <a:ln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56560" y="749808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41348253" y="1014983"/>
            <a:ext cx="477316" cy="556869"/>
          </a:xfrm>
          <a:prstGeom prst="can">
            <a:avLst/>
          </a:prstGeom>
          <a:solidFill>
            <a:srgbClr val="DBF0F9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879520" y="749808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entagon 15"/>
          <p:cNvSpPr/>
          <p:nvPr/>
        </p:nvSpPr>
        <p:spPr>
          <a:xfrm>
            <a:off x="42171213" y="988466"/>
            <a:ext cx="477316" cy="570128"/>
          </a:xfrm>
          <a:prstGeom prst="homePlate">
            <a:avLst/>
          </a:prstGeom>
          <a:solidFill>
            <a:srgbClr val="E8F6F0"/>
          </a:solidFill>
          <a:ln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37507" y="1147572"/>
            <a:ext cx="344728" cy="159105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160" b="1">
                <a:solidFill>
                  <a:srgbClr val="2F9E44"/>
                </a:solidFill>
                <a:latin typeface="Aptos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310128"/>
            <a:ext cx="2029968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310128"/>
            <a:ext cx="20299680" cy="438912"/>
          </a:xfrm>
          <a:prstGeom prst="round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3467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374136"/>
            <a:ext cx="192938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MOTIVATION</a:t>
            </a:r>
          </a:p>
        </p:txBody>
      </p:sp>
      <p:sp>
        <p:nvSpPr>
          <p:cNvPr id="22" name="Oval 21"/>
          <p:cNvSpPr/>
          <p:nvPr/>
        </p:nvSpPr>
        <p:spPr>
          <a:xfrm>
            <a:off x="1298448" y="4059935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9920000">
            <a:off x="1408176" y="4143329"/>
            <a:ext cx="158008" cy="105338"/>
          </a:xfrm>
          <a:prstGeom prst="ellipse">
            <a:avLst/>
          </a:prstGeom>
          <a:solidFill>
            <a:srgbClr val="5BB876"/>
          </a:solidFill>
          <a:ln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1368" y="4087368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0E2D40"/>
                </a:solidFill>
                <a:latin typeface="Aptos"/>
              </a:rPr>
              <a:t>Accuracy-only ML model choice hides compute and carbon costs.</a:t>
            </a:r>
          </a:p>
        </p:txBody>
      </p:sp>
      <p:sp>
        <p:nvSpPr>
          <p:cNvPr id="25" name="Oval 24"/>
          <p:cNvSpPr/>
          <p:nvPr/>
        </p:nvSpPr>
        <p:spPr>
          <a:xfrm>
            <a:off x="1298448" y="4818888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entagon 25"/>
          <p:cNvSpPr/>
          <p:nvPr/>
        </p:nvSpPr>
        <p:spPr>
          <a:xfrm>
            <a:off x="1395008" y="4897892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6954" y="4950561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A6F97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1368" y="4846320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0E2D40"/>
                </a:solidFill>
                <a:latin typeface="Aptos"/>
              </a:rPr>
              <a:t>German grid analytics needs robust, season-aware evidence.</a:t>
            </a:r>
          </a:p>
        </p:txBody>
      </p:sp>
      <p:sp>
        <p:nvSpPr>
          <p:cNvPr id="29" name="Oval 28"/>
          <p:cNvSpPr/>
          <p:nvPr/>
        </p:nvSpPr>
        <p:spPr>
          <a:xfrm>
            <a:off x="1298448" y="5577840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19920000">
            <a:off x="1408176" y="5661233"/>
            <a:ext cx="158008" cy="105338"/>
          </a:xfrm>
          <a:prstGeom prst="ellipse">
            <a:avLst/>
          </a:prstGeom>
          <a:solidFill>
            <a:srgbClr val="5BB876"/>
          </a:solidFill>
          <a:ln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1368" y="5605272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0E2D40"/>
                </a:solidFill>
                <a:latin typeface="Aptos"/>
              </a:rPr>
              <a:t>Transparent reporting should include F1, AUC, runtime and size.</a:t>
            </a:r>
          </a:p>
        </p:txBody>
      </p:sp>
      <p:sp>
        <p:nvSpPr>
          <p:cNvPr id="32" name="Oval 31"/>
          <p:cNvSpPr/>
          <p:nvPr/>
        </p:nvSpPr>
        <p:spPr>
          <a:xfrm>
            <a:off x="1298448" y="6336791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entagon 32"/>
          <p:cNvSpPr/>
          <p:nvPr/>
        </p:nvSpPr>
        <p:spPr>
          <a:xfrm>
            <a:off x="1395008" y="6415796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6954" y="6468465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A6F97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1368" y="6364223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0E2D40"/>
                </a:solidFill>
                <a:latin typeface="Aptos"/>
              </a:rPr>
              <a:t>Carbon-aware scheduling can reduce avoidable training impact.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0" y="3310128"/>
            <a:ext cx="2103120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945600" y="3310128"/>
            <a:ext cx="21031200" cy="438912"/>
          </a:xfrm>
          <a:prstGeom prst="round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146768" y="33467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68560" y="3374136"/>
            <a:ext cx="2002536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DATASETS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357080" y="4178808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585680" y="4489704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n 41"/>
          <p:cNvSpPr/>
          <p:nvPr/>
        </p:nvSpPr>
        <p:spPr>
          <a:xfrm>
            <a:off x="22758684" y="4646980"/>
            <a:ext cx="283098" cy="330281"/>
          </a:xfrm>
          <a:prstGeom prst="can">
            <a:avLst/>
          </a:prstGeom>
          <a:solidFill>
            <a:srgbClr val="DBF0F9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344632" y="4398264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0E2D40"/>
                </a:solidFill>
                <a:latin typeface="Aptos"/>
              </a:rPr>
              <a:t>OPSD Time Series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44632" y="4937760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0897B"/>
                </a:solidFill>
                <a:latin typeface="Aptos"/>
              </a:rPr>
              <a:t>~50,401 raw hourly rows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44632" y="5422392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96974"/>
                </a:solidFill>
                <a:latin typeface="Aptos"/>
              </a:rPr>
              <a:t>load, wind, solar, TSO zones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169360" y="4178808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397960" y="4489704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570964" y="4819985"/>
            <a:ext cx="55046" cy="141549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657466" y="4725619"/>
            <a:ext cx="55046" cy="235915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743968" y="4631253"/>
            <a:ext cx="55046" cy="330281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56911" y="4398264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0E2D40"/>
                </a:solidFill>
                <a:latin typeface="Aptos"/>
              </a:rPr>
              <a:t>Processed ML 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56911" y="4937760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0897B"/>
                </a:solidFill>
                <a:latin typeface="Aptos"/>
              </a:rPr>
              <a:t>50,209 rows; 29 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56911" y="5422392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96974"/>
                </a:solidFill>
                <a:latin typeface="Aptos"/>
              </a:rPr>
              <a:t>lags, residual-load proxy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981640" y="4178808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210240" y="4489704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ocument 55"/>
          <p:cNvSpPr/>
          <p:nvPr/>
        </p:nvSpPr>
        <p:spPr>
          <a:xfrm>
            <a:off x="36391108" y="4631253"/>
            <a:ext cx="267370" cy="353872"/>
          </a:xfrm>
          <a:prstGeom prst="flowChartDocument">
            <a:avLst/>
          </a:prstGeom>
          <a:solidFill>
            <a:srgbClr val="F8FCFC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969192" y="4398264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0E2D40"/>
                </a:solidFill>
                <a:latin typeface="Aptos"/>
              </a:rPr>
              <a:t>Artifacts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69192" y="4937760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0897B"/>
                </a:solidFill>
                <a:latin typeface="Aptos"/>
              </a:rPr>
              <a:t>5 notebooks; 10 figures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969192" y="5422392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96974"/>
                </a:solidFill>
                <a:latin typeface="Aptos"/>
              </a:rPr>
              <a:t>CSV tables + IEEE report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8110728"/>
            <a:ext cx="7955279" cy="14859000"/>
          </a:xfrm>
          <a:prstGeom prst="roundRect">
            <a:avLst/>
          </a:prstGeom>
          <a:solidFill>
            <a:srgbClr val="F7FCFB"/>
          </a:solidFill>
          <a:ln w="16510"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4400" y="8110728"/>
            <a:ext cx="7955279" cy="43891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5568" y="81473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37360" y="8174736"/>
            <a:ext cx="694944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METHODOLOGY PIPELINE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755648" y="9582912"/>
            <a:ext cx="0" cy="12847320"/>
          </a:xfrm>
          <a:prstGeom prst="line">
            <a:avLst/>
          </a:prstGeom>
          <a:ln w="25400">
            <a:solidFill>
              <a:srgbClr val="AC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353312" y="9253728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n 65"/>
          <p:cNvSpPr/>
          <p:nvPr/>
        </p:nvSpPr>
        <p:spPr>
          <a:xfrm>
            <a:off x="1564538" y="9445752"/>
            <a:ext cx="345643" cy="403250"/>
          </a:xfrm>
          <a:prstGeom prst="can">
            <a:avLst/>
          </a:prstGeom>
          <a:solidFill>
            <a:srgbClr val="DBF0F9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04288" y="9272016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E2D40"/>
                </a:solidFill>
                <a:latin typeface="Aptos"/>
              </a:rPr>
              <a:t>Data collection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04288" y="9692640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96974"/>
                </a:solidFill>
                <a:latin typeface="Aptos"/>
              </a:rPr>
              <a:t>OPSD hourly data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1627632" y="10589849"/>
            <a:ext cx="256032" cy="384048"/>
          </a:xfrm>
          <a:prstGeom prst="downArrow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353312" y="11823192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entagon 70"/>
          <p:cNvSpPr/>
          <p:nvPr/>
        </p:nvSpPr>
        <p:spPr>
          <a:xfrm>
            <a:off x="1564538" y="11996013"/>
            <a:ext cx="345643" cy="412851"/>
          </a:xfrm>
          <a:prstGeom prst="homePlate">
            <a:avLst/>
          </a:prstGeom>
          <a:solidFill>
            <a:srgbClr val="E8F6F0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12544" y="12111228"/>
            <a:ext cx="249631" cy="11521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2A6F97"/>
                </a:solidFill>
                <a:latin typeface="Aptos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04288" y="11841480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E2D40"/>
                </a:solidFill>
                <a:latin typeface="Aptos"/>
              </a:rPr>
              <a:t>Preprocessing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04288" y="12262104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96974"/>
                </a:solidFill>
                <a:latin typeface="Aptos"/>
              </a:rPr>
              <a:t>interpolate, align UTC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1627632" y="13159313"/>
            <a:ext cx="256032" cy="384048"/>
          </a:xfrm>
          <a:prstGeom prst="downArrow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53312" y="14392656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564538" y="14603882"/>
            <a:ext cx="326440" cy="326440"/>
          </a:xfrm>
          <a:prstGeom prst="rect">
            <a:avLst/>
          </a:prstGeom>
          <a:solidFill>
            <a:srgbClr val="DAF4EE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506931" y="14767102"/>
            <a:ext cx="57607" cy="0"/>
          </a:xfrm>
          <a:prstGeom prst="line">
            <a:avLst/>
          </a:prstGeom>
          <a:ln w="127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890979" y="14767102"/>
            <a:ext cx="48006" cy="0"/>
          </a:xfrm>
          <a:prstGeom prst="line">
            <a:avLst/>
          </a:prstGeom>
          <a:ln w="127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593342" y="14671090"/>
            <a:ext cx="268833" cy="13441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77" b="1">
                <a:solidFill>
                  <a:srgbClr val="00897B"/>
                </a:solidFill>
                <a:latin typeface="Aptos"/>
              </a:rPr>
              <a:t>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4288" y="14410944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E2D40"/>
                </a:solidFill>
                <a:latin typeface="Aptos"/>
              </a:rPr>
              <a:t>Feature engineering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04288" y="14831568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96974"/>
                </a:solidFill>
                <a:latin typeface="Aptos"/>
              </a:rPr>
              <a:t>lags, RES, TSO zones</a:t>
            </a:r>
          </a:p>
        </p:txBody>
      </p:sp>
      <p:sp>
        <p:nvSpPr>
          <p:cNvPr id="83" name="Down Arrow 82"/>
          <p:cNvSpPr/>
          <p:nvPr/>
        </p:nvSpPr>
        <p:spPr>
          <a:xfrm>
            <a:off x="1627632" y="15728777"/>
            <a:ext cx="256032" cy="384048"/>
          </a:xfrm>
          <a:prstGeom prst="downArrow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353312" y="16962120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64538" y="17173346"/>
            <a:ext cx="326440" cy="326440"/>
          </a:xfrm>
          <a:prstGeom prst="rect">
            <a:avLst/>
          </a:prstGeom>
          <a:solidFill>
            <a:srgbClr val="DAF4EE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1506931" y="17336566"/>
            <a:ext cx="57607" cy="0"/>
          </a:xfrm>
          <a:prstGeom prst="line">
            <a:avLst/>
          </a:prstGeom>
          <a:ln w="127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890979" y="17336566"/>
            <a:ext cx="48006" cy="0"/>
          </a:xfrm>
          <a:prstGeom prst="line">
            <a:avLst/>
          </a:prstGeom>
          <a:ln w="127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593342" y="17240554"/>
            <a:ext cx="268833" cy="13441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77" b="1">
                <a:solidFill>
                  <a:srgbClr val="2A6F97"/>
                </a:solidFill>
                <a:latin typeface="Aptos"/>
              </a:rPr>
              <a:t>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04288" y="16980408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E2D40"/>
                </a:solidFill>
                <a:latin typeface="Aptos"/>
              </a:rPr>
              <a:t>Modeling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04288" y="17401032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96974"/>
                </a:solidFill>
                <a:latin typeface="Aptos"/>
              </a:rPr>
              <a:t>LR, SVM, RF, HGB, NN</a:t>
            </a:r>
          </a:p>
        </p:txBody>
      </p:sp>
      <p:sp>
        <p:nvSpPr>
          <p:cNvPr id="91" name="Down Arrow 90"/>
          <p:cNvSpPr/>
          <p:nvPr/>
        </p:nvSpPr>
        <p:spPr>
          <a:xfrm>
            <a:off x="1627632" y="18298241"/>
            <a:ext cx="256032" cy="384048"/>
          </a:xfrm>
          <a:prstGeom prst="downArrow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353312" y="19531584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564538" y="19934834"/>
            <a:ext cx="67208" cy="172821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70151" y="19819620"/>
            <a:ext cx="67208" cy="2880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75764" y="19704405"/>
            <a:ext cx="67208" cy="4032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04288" y="19549872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E2D40"/>
                </a:solidFill>
                <a:latin typeface="Aptos"/>
              </a:rPr>
              <a:t>Evaluation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04288" y="19970496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96974"/>
                </a:solidFill>
                <a:latin typeface="Aptos"/>
              </a:rPr>
              <a:t>F1, AUC, runtime</a:t>
            </a:r>
          </a:p>
        </p:txBody>
      </p:sp>
      <p:sp>
        <p:nvSpPr>
          <p:cNvPr id="98" name="Down Arrow 97"/>
          <p:cNvSpPr/>
          <p:nvPr/>
        </p:nvSpPr>
        <p:spPr>
          <a:xfrm>
            <a:off x="1627632" y="20867705"/>
            <a:ext cx="256032" cy="384048"/>
          </a:xfrm>
          <a:prstGeom prst="downArrow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53312" y="22101048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 rot="19920000">
            <a:off x="1593342" y="22283470"/>
            <a:ext cx="345643" cy="230428"/>
          </a:xfrm>
          <a:prstGeom prst="ellipse">
            <a:avLst/>
          </a:prstGeom>
          <a:solidFill>
            <a:srgbClr val="5BB876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04288" y="22119336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E2D40"/>
                </a:solidFill>
                <a:latin typeface="Aptos"/>
              </a:rPr>
              <a:t>Insights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04288" y="22539960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96974"/>
                </a:solidFill>
                <a:latin typeface="Aptos"/>
              </a:rPr>
              <a:t>Pareto + guidance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72600" y="8110728"/>
            <a:ext cx="11795760" cy="6766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372600" y="8110728"/>
            <a:ext cx="11795760" cy="43891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73768" y="81473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95560" y="8174736"/>
            <a:ext cx="107899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RESEARCH QUESTIONS</a:t>
            </a:r>
          </a:p>
        </p:txBody>
      </p:sp>
      <p:sp>
        <p:nvSpPr>
          <p:cNvPr id="107" name="Oval 106"/>
          <p:cNvSpPr/>
          <p:nvPr/>
        </p:nvSpPr>
        <p:spPr>
          <a:xfrm>
            <a:off x="9811512" y="8915400"/>
            <a:ext cx="438912" cy="438912"/>
          </a:xfrm>
          <a:prstGeom prst="ellipse">
            <a:avLst/>
          </a:prstGeom>
          <a:solidFill>
            <a:srgbClr val="2F9E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811512" y="8954902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15016" y="8942832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E2D40"/>
                </a:solidFill>
                <a:latin typeface="Aptos"/>
              </a:rPr>
              <a:t>Which model is Pareto-efficient?</a:t>
            </a:r>
          </a:p>
        </p:txBody>
      </p:sp>
      <p:sp>
        <p:nvSpPr>
          <p:cNvPr id="110" name="Oval 109"/>
          <p:cNvSpPr/>
          <p:nvPr/>
        </p:nvSpPr>
        <p:spPr>
          <a:xfrm>
            <a:off x="9811512" y="9665208"/>
            <a:ext cx="438912" cy="438912"/>
          </a:xfrm>
          <a:prstGeom prst="ellipse">
            <a:avLst/>
          </a:prstGeom>
          <a:solidFill>
            <a:srgbClr val="2F9E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11512" y="9704710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15016" y="9692640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E2D40"/>
                </a:solidFill>
                <a:latin typeface="Aptos"/>
              </a:rPr>
              <a:t>Which feature families add value?</a:t>
            </a:r>
          </a:p>
        </p:txBody>
      </p:sp>
      <p:sp>
        <p:nvSpPr>
          <p:cNvPr id="113" name="Oval 112"/>
          <p:cNvSpPr/>
          <p:nvPr/>
        </p:nvSpPr>
        <p:spPr>
          <a:xfrm>
            <a:off x="9811512" y="10415016"/>
            <a:ext cx="438912" cy="438912"/>
          </a:xfrm>
          <a:prstGeom prst="ellipse">
            <a:avLst/>
          </a:prstGeom>
          <a:solidFill>
            <a:srgbClr val="2F9E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11512" y="10454518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15016" y="10442448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E2D40"/>
                </a:solidFill>
                <a:latin typeface="Aptos"/>
              </a:rPr>
              <a:t>Are rankings seasonally stable?</a:t>
            </a:r>
          </a:p>
        </p:txBody>
      </p:sp>
      <p:sp>
        <p:nvSpPr>
          <p:cNvPr id="116" name="Oval 115"/>
          <p:cNvSpPr/>
          <p:nvPr/>
        </p:nvSpPr>
        <p:spPr>
          <a:xfrm>
            <a:off x="9811512" y="11164824"/>
            <a:ext cx="438912" cy="438912"/>
          </a:xfrm>
          <a:prstGeom prst="ellipse">
            <a:avLst/>
          </a:prstGeom>
          <a:solidFill>
            <a:srgbClr val="2F9E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811512" y="11204326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15016" y="11192256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E2D40"/>
                </a:solidFill>
                <a:latin typeface="Aptos"/>
              </a:rPr>
              <a:t>Can simple models explain drivers?</a:t>
            </a:r>
          </a:p>
        </p:txBody>
      </p:sp>
      <p:sp>
        <p:nvSpPr>
          <p:cNvPr id="119" name="Oval 118"/>
          <p:cNvSpPr/>
          <p:nvPr/>
        </p:nvSpPr>
        <p:spPr>
          <a:xfrm>
            <a:off x="9811512" y="11914632"/>
            <a:ext cx="438912" cy="438912"/>
          </a:xfrm>
          <a:prstGeom prst="ellipse">
            <a:avLst/>
          </a:prstGeom>
          <a:solidFill>
            <a:srgbClr val="2F9E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811512" y="11954134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15016" y="11942064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E2D40"/>
                </a:solidFill>
                <a:latin typeface="Aptos"/>
              </a:rPr>
              <a:t>Do green training windows help?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1762720" y="8110728"/>
            <a:ext cx="21214080" cy="9601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21762720" y="8110728"/>
            <a:ext cx="21214080" cy="438912"/>
          </a:xfrm>
          <a:prstGeom prst="round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1963888" y="81473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585680" y="8174736"/>
            <a:ext cx="202082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KEY RESULTS (HIGHLIGHTS)</a:t>
            </a:r>
          </a:p>
        </p:txBody>
      </p:sp>
      <p:graphicFrame>
        <p:nvGraphicFramePr>
          <p:cNvPr id="126" name="Chart 125"/>
          <p:cNvGraphicFramePr>
            <a:graphicFrameLocks noGrp="1"/>
          </p:cNvGraphicFramePr>
          <p:nvPr/>
        </p:nvGraphicFramePr>
        <p:xfrm>
          <a:off x="22265640" y="8869680"/>
          <a:ext cx="9295790" cy="34797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7" name="Chart 126"/>
          <p:cNvGraphicFramePr>
            <a:graphicFrameLocks noGrp="1"/>
          </p:cNvGraphicFramePr>
          <p:nvPr/>
        </p:nvGraphicFramePr>
        <p:xfrm>
          <a:off x="32369760" y="8869680"/>
          <a:ext cx="9699955" cy="34797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8" name="Chart 127"/>
          <p:cNvGraphicFramePr>
            <a:graphicFrameLocks noGrp="1"/>
          </p:cNvGraphicFramePr>
          <p:nvPr/>
        </p:nvGraphicFramePr>
        <p:xfrm>
          <a:off x="22265640" y="12915900"/>
          <a:ext cx="9295790" cy="33988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9" name="TextBox 128"/>
          <p:cNvSpPr txBox="1"/>
          <p:nvPr/>
        </p:nvSpPr>
        <p:spPr>
          <a:xfrm>
            <a:off x="33380172" y="13320522"/>
            <a:ext cx="3233318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2F9E44"/>
                </a:solidFill>
                <a:latin typeface="Aptos"/>
              </a:rPr>
              <a:t>31.9%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380172" y="13887450"/>
            <a:ext cx="3233318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96974"/>
                </a:solidFill>
                <a:latin typeface="Aptos"/>
              </a:rPr>
              <a:t>green-window reduction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815572" y="13320522"/>
            <a:ext cx="2627071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00897B"/>
                </a:solidFill>
                <a:latin typeface="Aptos"/>
              </a:rPr>
              <a:t>0.899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815572" y="13887450"/>
            <a:ext cx="2627071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96974"/>
                </a:solidFill>
                <a:latin typeface="Aptos"/>
              </a:rPr>
              <a:t>best F1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442644" y="13320522"/>
            <a:ext cx="2424988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2A6F97"/>
                </a:solidFill>
                <a:latin typeface="Aptos"/>
              </a:rPr>
              <a:t>0.993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442644" y="13887450"/>
            <a:ext cx="2424988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96974"/>
                </a:solidFill>
                <a:latin typeface="Aptos"/>
              </a:rPr>
              <a:t>ROC-AUC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773924" y="15181783"/>
            <a:ext cx="8891625" cy="84124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450" b="1">
                <a:solidFill>
                  <a:srgbClr val="0E2D40"/>
                </a:solidFill>
                <a:latin typeface="Aptos"/>
              </a:rPr>
              <a:t>HGB is the balanced recommendation; Linear SVM is the lowest-compute fallback.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372600" y="15334488"/>
            <a:ext cx="11795760" cy="4892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9372600" y="15334488"/>
            <a:ext cx="11795760" cy="438912"/>
          </a:xfrm>
          <a:prstGeom prst="round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573768" y="1537106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195560" y="15398496"/>
            <a:ext cx="107899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KEY FINDINGS</a:t>
            </a:r>
          </a:p>
        </p:txBody>
      </p:sp>
      <p:sp>
        <p:nvSpPr>
          <p:cNvPr id="140" name="Oval 139"/>
          <p:cNvSpPr/>
          <p:nvPr/>
        </p:nvSpPr>
        <p:spPr>
          <a:xfrm>
            <a:off x="9811512" y="160842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Pentagon 140"/>
          <p:cNvSpPr/>
          <p:nvPr/>
        </p:nvSpPr>
        <p:spPr>
          <a:xfrm>
            <a:off x="9908072" y="16163300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930018" y="16215969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F9E44"/>
                </a:solidFill>
                <a:latin typeface="Aptos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14432" y="16111728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0E2D40"/>
                </a:solidFill>
                <a:latin typeface="Aptos"/>
              </a:rPr>
              <a:t>HGB: best F1 and Pareto-efficient.</a:t>
            </a:r>
          </a:p>
        </p:txBody>
      </p:sp>
      <p:sp>
        <p:nvSpPr>
          <p:cNvPr id="144" name="Oval 143"/>
          <p:cNvSpPr/>
          <p:nvPr/>
        </p:nvSpPr>
        <p:spPr>
          <a:xfrm>
            <a:off x="9811512" y="167700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Pentagon 144"/>
          <p:cNvSpPr/>
          <p:nvPr/>
        </p:nvSpPr>
        <p:spPr>
          <a:xfrm>
            <a:off x="9908072" y="16849100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930018" y="16901769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A6F97"/>
                </a:solidFill>
                <a:latin typeface="Aptos"/>
              </a:rPr>
              <a:t>✓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14432" y="16797528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0E2D40"/>
                </a:solidFill>
                <a:latin typeface="Aptos"/>
              </a:rPr>
              <a:t>Load history gives the largest feature gain.</a:t>
            </a:r>
          </a:p>
        </p:txBody>
      </p:sp>
      <p:sp>
        <p:nvSpPr>
          <p:cNvPr id="148" name="Oval 147"/>
          <p:cNvSpPr/>
          <p:nvPr/>
        </p:nvSpPr>
        <p:spPr>
          <a:xfrm>
            <a:off x="9811512" y="174558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Pentagon 148"/>
          <p:cNvSpPr/>
          <p:nvPr/>
        </p:nvSpPr>
        <p:spPr>
          <a:xfrm>
            <a:off x="9908072" y="17534900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930018" y="17587569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F9E44"/>
                </a:solidFill>
                <a:latin typeface="Aptos"/>
              </a:rPr>
              <a:t>✓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314432" y="17483328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0E2D40"/>
                </a:solidFill>
                <a:latin typeface="Aptos"/>
              </a:rPr>
              <a:t>Summer is the hardest seasonal regime.</a:t>
            </a:r>
          </a:p>
        </p:txBody>
      </p:sp>
      <p:sp>
        <p:nvSpPr>
          <p:cNvPr id="152" name="Oval 151"/>
          <p:cNvSpPr/>
          <p:nvPr/>
        </p:nvSpPr>
        <p:spPr>
          <a:xfrm>
            <a:off x="9811512" y="181416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Pentagon 152"/>
          <p:cNvSpPr/>
          <p:nvPr/>
        </p:nvSpPr>
        <p:spPr>
          <a:xfrm>
            <a:off x="9908072" y="18220700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930018" y="18273369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A6F97"/>
                </a:solidFill>
                <a:latin typeface="Aptos"/>
              </a:rPr>
              <a:t>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14432" y="18169128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0E2D40"/>
                </a:solidFill>
                <a:latin typeface="Aptos"/>
              </a:rPr>
              <a:t>Use low-compute baselines for auditability.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1762720" y="18169128"/>
            <a:ext cx="21214080" cy="4800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21762720" y="18169128"/>
            <a:ext cx="21214080" cy="438912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1963888" y="182057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585680" y="18233136"/>
            <a:ext cx="202082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2265640" y="18918936"/>
            <a:ext cx="20116800" cy="11704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0E2D40"/>
                </a:solidFill>
                <a:latin typeface="Aptos"/>
              </a:rPr>
              <a:t>Responsible model selection should be Pareto-based: accuracy, carbon proxy, runtime, model size, seasonal robustness and auditability are evaluated together.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448520" y="20500848"/>
            <a:ext cx="19659600" cy="93268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0">
                <a:solidFill>
                  <a:srgbClr val="596974"/>
                </a:solidFill>
                <a:latin typeface="Aptos"/>
              </a:rPr>
              <a:t>Recommended balanced model: Histogram Gradient Boosting. Recommended low-compute fallback: Linear SVM. Next step: replace proxy energy with measured hardware power.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24003000"/>
            <a:ext cx="43891200" cy="685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05840" y="24112728"/>
            <a:ext cx="409651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Dataset: Open Power System Data Time Series (2020-10-06) | Reproducible notebooks, figures, tables, workflow, and IEEE/PES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154680"/>
          </a:xfrm>
          <a:prstGeom prst="rect">
            <a:avLst/>
          </a:prstGeom>
          <a:solidFill>
            <a:srgbClr val="0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34747200" cy="9144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ptos Display"/>
              </a:rPr>
              <a:t>Auditing Carbon-Aware AI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25296"/>
            <a:ext cx="34747200" cy="53035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Accuracy, Sustainability, Transparency and Robustness in German Power-System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956816"/>
            <a:ext cx="34747200" cy="38404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0">
                <a:solidFill>
                  <a:srgbClr val="C8E6DA"/>
                </a:solidFill>
                <a:latin typeface="Aptos"/>
              </a:rPr>
              <a:t>AI, Power &amp; Responsibility - Governing Intelligent Systems for Sustainability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896112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88973" y="1187805"/>
            <a:ext cx="450799" cy="450799"/>
          </a:xfrm>
          <a:prstGeom prst="rect">
            <a:avLst/>
          </a:prstGeom>
          <a:solidFill>
            <a:srgbClr val="DAF4EE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09420" y="1413205"/>
            <a:ext cx="79553" cy="0"/>
          </a:xfrm>
          <a:prstGeom prst="line">
            <a:avLst/>
          </a:prstGeom>
          <a:ln w="12700">
            <a:solidFill>
              <a:srgbClr val="23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839772" y="1413205"/>
            <a:ext cx="66294" cy="0"/>
          </a:xfrm>
          <a:prstGeom prst="line">
            <a:avLst/>
          </a:prstGeom>
          <a:ln w="12700">
            <a:solidFill>
              <a:srgbClr val="23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28750" y="1280617"/>
            <a:ext cx="371246" cy="185623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797" b="1">
                <a:solidFill>
                  <a:srgbClr val="236792"/>
                </a:solidFill>
                <a:latin typeface="Aptos"/>
              </a:rPr>
              <a:t>AI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896112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9920000">
            <a:off x="2251710" y="1148029"/>
            <a:ext cx="477316" cy="318211"/>
          </a:xfrm>
          <a:prstGeom prst="ellipse">
            <a:avLst/>
          </a:prstGeom>
          <a:solidFill>
            <a:srgbClr val="5BB876"/>
          </a:solidFill>
          <a:ln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56560" y="896112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41348253" y="1161288"/>
            <a:ext cx="477316" cy="556869"/>
          </a:xfrm>
          <a:prstGeom prst="can">
            <a:avLst/>
          </a:prstGeom>
          <a:solidFill>
            <a:srgbClr val="DBF0F9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879520" y="896112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entagon 15"/>
          <p:cNvSpPr/>
          <p:nvPr/>
        </p:nvSpPr>
        <p:spPr>
          <a:xfrm>
            <a:off x="42171213" y="1134770"/>
            <a:ext cx="477316" cy="570128"/>
          </a:xfrm>
          <a:prstGeom prst="homePlate">
            <a:avLst/>
          </a:prstGeom>
          <a:solidFill>
            <a:srgbClr val="E8F6F0"/>
          </a:solidFill>
          <a:ln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37507" y="1293876"/>
            <a:ext cx="344728" cy="159105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160" b="1">
                <a:solidFill>
                  <a:srgbClr val="46AE5E"/>
                </a:solidFill>
                <a:latin typeface="Aptos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29584"/>
            <a:ext cx="2029968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529584"/>
            <a:ext cx="20299680" cy="438912"/>
          </a:xfrm>
          <a:prstGeom prst="roundRect">
            <a:avLst/>
          </a:prstGeom>
          <a:solidFill>
            <a:srgbClr val="0E8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566160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593591"/>
            <a:ext cx="192938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MOTIVATION</a:t>
            </a:r>
          </a:p>
        </p:txBody>
      </p:sp>
      <p:sp>
        <p:nvSpPr>
          <p:cNvPr id="22" name="Oval 21"/>
          <p:cNvSpPr/>
          <p:nvPr/>
        </p:nvSpPr>
        <p:spPr>
          <a:xfrm>
            <a:off x="1298448" y="4279392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9920000">
            <a:off x="1408176" y="4362785"/>
            <a:ext cx="158008" cy="105338"/>
          </a:xfrm>
          <a:prstGeom prst="ellipse">
            <a:avLst/>
          </a:prstGeom>
          <a:solidFill>
            <a:srgbClr val="5BB876"/>
          </a:solidFill>
          <a:ln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1368" y="4306824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081F2C"/>
                </a:solidFill>
                <a:latin typeface="Aptos"/>
              </a:rPr>
              <a:t>Accuracy-only ML model choice hides compute and carbon costs.</a:t>
            </a:r>
          </a:p>
        </p:txBody>
      </p:sp>
      <p:sp>
        <p:nvSpPr>
          <p:cNvPr id="25" name="Oval 24"/>
          <p:cNvSpPr/>
          <p:nvPr/>
        </p:nvSpPr>
        <p:spPr>
          <a:xfrm>
            <a:off x="1298448" y="5038344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entagon 25"/>
          <p:cNvSpPr/>
          <p:nvPr/>
        </p:nvSpPr>
        <p:spPr>
          <a:xfrm>
            <a:off x="1395008" y="5117348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6954" y="5170017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36792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1368" y="5065776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081F2C"/>
                </a:solidFill>
                <a:latin typeface="Aptos"/>
              </a:rPr>
              <a:t>German grid analytics needs robust, season-aware evidence.</a:t>
            </a:r>
          </a:p>
        </p:txBody>
      </p:sp>
      <p:sp>
        <p:nvSpPr>
          <p:cNvPr id="29" name="Oval 28"/>
          <p:cNvSpPr/>
          <p:nvPr/>
        </p:nvSpPr>
        <p:spPr>
          <a:xfrm>
            <a:off x="1298448" y="57972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19920000">
            <a:off x="1408176" y="5880689"/>
            <a:ext cx="158008" cy="105338"/>
          </a:xfrm>
          <a:prstGeom prst="ellipse">
            <a:avLst/>
          </a:prstGeom>
          <a:solidFill>
            <a:srgbClr val="5BB876"/>
          </a:solidFill>
          <a:ln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1368" y="5824728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081F2C"/>
                </a:solidFill>
                <a:latin typeface="Aptos"/>
              </a:rPr>
              <a:t>Transparent reporting should include F1, AUC, runtime and size.</a:t>
            </a:r>
          </a:p>
        </p:txBody>
      </p:sp>
      <p:sp>
        <p:nvSpPr>
          <p:cNvPr id="32" name="Oval 31"/>
          <p:cNvSpPr/>
          <p:nvPr/>
        </p:nvSpPr>
        <p:spPr>
          <a:xfrm>
            <a:off x="1298448" y="6556247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entagon 32"/>
          <p:cNvSpPr/>
          <p:nvPr/>
        </p:nvSpPr>
        <p:spPr>
          <a:xfrm>
            <a:off x="1395008" y="6635252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6954" y="6687921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36792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1368" y="6583679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081F2C"/>
                </a:solidFill>
                <a:latin typeface="Aptos"/>
              </a:rPr>
              <a:t>Carbon-aware scheduling can reduce avoidable training impact.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0" y="3529584"/>
            <a:ext cx="2103120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945600" y="3529584"/>
            <a:ext cx="21031200" cy="438912"/>
          </a:xfrm>
          <a:prstGeom prst="roundRect">
            <a:avLst/>
          </a:prstGeom>
          <a:solidFill>
            <a:srgbClr val="23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146768" y="3566160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68560" y="3593591"/>
            <a:ext cx="2002536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DATASETS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357080" y="4398264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585680" y="4709159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n 41"/>
          <p:cNvSpPr/>
          <p:nvPr/>
        </p:nvSpPr>
        <p:spPr>
          <a:xfrm>
            <a:off x="22758684" y="4866436"/>
            <a:ext cx="283098" cy="330281"/>
          </a:xfrm>
          <a:prstGeom prst="can">
            <a:avLst/>
          </a:prstGeom>
          <a:solidFill>
            <a:srgbClr val="DBF0F9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344632" y="4617720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081F2C"/>
                </a:solidFill>
                <a:latin typeface="Aptos"/>
              </a:rPr>
              <a:t>OPSD Time Series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44632" y="5157216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E8D82"/>
                </a:solidFill>
                <a:latin typeface="Aptos"/>
              </a:rPr>
              <a:t>~50,401 raw hourly rows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44632" y="5641848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1606C"/>
                </a:solidFill>
                <a:latin typeface="Aptos"/>
              </a:rPr>
              <a:t>load, wind, solar, TSO zones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169360" y="4398264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397960" y="4709159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570964" y="5039441"/>
            <a:ext cx="55046" cy="141549"/>
          </a:xfrm>
          <a:prstGeom prst="rect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657466" y="4945075"/>
            <a:ext cx="55046" cy="235915"/>
          </a:xfrm>
          <a:prstGeom prst="rect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743968" y="4850709"/>
            <a:ext cx="55046" cy="330281"/>
          </a:xfrm>
          <a:prstGeom prst="rect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56911" y="4617720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081F2C"/>
                </a:solidFill>
                <a:latin typeface="Aptos"/>
              </a:rPr>
              <a:t>Processed ML 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56911" y="5157216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E8D82"/>
                </a:solidFill>
                <a:latin typeface="Aptos"/>
              </a:rPr>
              <a:t>50,209 rows; 29 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56911" y="5641848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1606C"/>
                </a:solidFill>
                <a:latin typeface="Aptos"/>
              </a:rPr>
              <a:t>lags, residual-load proxy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981640" y="4398264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210240" y="4709159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ocument 55"/>
          <p:cNvSpPr/>
          <p:nvPr/>
        </p:nvSpPr>
        <p:spPr>
          <a:xfrm>
            <a:off x="36391108" y="4850709"/>
            <a:ext cx="267370" cy="353872"/>
          </a:xfrm>
          <a:prstGeom prst="flowChartDocument">
            <a:avLst/>
          </a:prstGeom>
          <a:solidFill>
            <a:srgbClr val="F8FCFC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969192" y="4617720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081F2C"/>
                </a:solidFill>
                <a:latin typeface="Aptos"/>
              </a:rPr>
              <a:t>Artifacts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69192" y="5157216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E8D82"/>
                </a:solidFill>
                <a:latin typeface="Aptos"/>
              </a:rPr>
              <a:t>5 notebooks; 10 figures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969192" y="5641848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1606C"/>
                </a:solidFill>
                <a:latin typeface="Aptos"/>
              </a:rPr>
              <a:t>CSV tables + IEEE report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8330183"/>
            <a:ext cx="7955279" cy="14859000"/>
          </a:xfrm>
          <a:prstGeom prst="roundRect">
            <a:avLst/>
          </a:prstGeom>
          <a:solidFill>
            <a:srgbClr val="F7FCFB"/>
          </a:solidFill>
          <a:ln w="16510"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4400" y="8330183"/>
            <a:ext cx="7955279" cy="438912"/>
          </a:xfrm>
          <a:prstGeom prst="roundRect">
            <a:avLst/>
          </a:prstGeom>
          <a:solidFill>
            <a:srgbClr val="0E8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5568" y="8366759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37360" y="8394192"/>
            <a:ext cx="694944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METHODOLOGY PIPELINE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755648" y="9802367"/>
            <a:ext cx="0" cy="12847321"/>
          </a:xfrm>
          <a:prstGeom prst="line">
            <a:avLst/>
          </a:prstGeom>
          <a:ln w="25400">
            <a:solidFill>
              <a:srgbClr val="AC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353312" y="9473184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E8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n 65"/>
          <p:cNvSpPr/>
          <p:nvPr/>
        </p:nvSpPr>
        <p:spPr>
          <a:xfrm>
            <a:off x="1564538" y="9665208"/>
            <a:ext cx="345643" cy="403250"/>
          </a:xfrm>
          <a:prstGeom prst="can">
            <a:avLst/>
          </a:prstGeom>
          <a:solidFill>
            <a:srgbClr val="DBF0F9"/>
          </a:solidFill>
          <a:ln>
            <a:solidFill>
              <a:srgbClr val="0E8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04288" y="9491472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81F2C"/>
                </a:solidFill>
                <a:latin typeface="Aptos"/>
              </a:rPr>
              <a:t>Data collection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04288" y="9912096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1606C"/>
                </a:solidFill>
                <a:latin typeface="Aptos"/>
              </a:rPr>
              <a:t>OPSD hourly data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1627632" y="10809305"/>
            <a:ext cx="256032" cy="384048"/>
          </a:xfrm>
          <a:prstGeom prst="downArrow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353312" y="12042648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entagon 70"/>
          <p:cNvSpPr/>
          <p:nvPr/>
        </p:nvSpPr>
        <p:spPr>
          <a:xfrm>
            <a:off x="1564538" y="12215469"/>
            <a:ext cx="345643" cy="412851"/>
          </a:xfrm>
          <a:prstGeom prst="homePlate">
            <a:avLst/>
          </a:prstGeom>
          <a:solidFill>
            <a:srgbClr val="E8F6F0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12544" y="12330684"/>
            <a:ext cx="249631" cy="11521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236792"/>
                </a:solidFill>
                <a:latin typeface="Aptos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04288" y="12060936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81F2C"/>
                </a:solidFill>
                <a:latin typeface="Aptos"/>
              </a:rPr>
              <a:t>Preprocessing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04288" y="12481560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1606C"/>
                </a:solidFill>
                <a:latin typeface="Aptos"/>
              </a:rPr>
              <a:t>interpolate, align UTC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1627632" y="13378769"/>
            <a:ext cx="256032" cy="384048"/>
          </a:xfrm>
          <a:prstGeom prst="downArrow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53312" y="14612112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E8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564538" y="14823338"/>
            <a:ext cx="326440" cy="326440"/>
          </a:xfrm>
          <a:prstGeom prst="rect">
            <a:avLst/>
          </a:prstGeom>
          <a:solidFill>
            <a:srgbClr val="DAF4EE"/>
          </a:solidFill>
          <a:ln>
            <a:solidFill>
              <a:srgbClr val="0E8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506931" y="14986558"/>
            <a:ext cx="57607" cy="0"/>
          </a:xfrm>
          <a:prstGeom prst="line">
            <a:avLst/>
          </a:prstGeom>
          <a:ln w="12700">
            <a:solidFill>
              <a:srgbClr val="0E8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890979" y="14986558"/>
            <a:ext cx="48006" cy="0"/>
          </a:xfrm>
          <a:prstGeom prst="line">
            <a:avLst/>
          </a:prstGeom>
          <a:ln w="12700">
            <a:solidFill>
              <a:srgbClr val="0E8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593342" y="14890546"/>
            <a:ext cx="268833" cy="13441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77" b="1">
                <a:solidFill>
                  <a:srgbClr val="0E8D82"/>
                </a:solidFill>
                <a:latin typeface="Aptos"/>
              </a:rPr>
              <a:t>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4288" y="14630400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81F2C"/>
                </a:solidFill>
                <a:latin typeface="Aptos"/>
              </a:rPr>
              <a:t>Feature engineering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04288" y="15051024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1606C"/>
                </a:solidFill>
                <a:latin typeface="Aptos"/>
              </a:rPr>
              <a:t>lags, RES, TSO zones</a:t>
            </a:r>
          </a:p>
        </p:txBody>
      </p:sp>
      <p:sp>
        <p:nvSpPr>
          <p:cNvPr id="83" name="Down Arrow 82"/>
          <p:cNvSpPr/>
          <p:nvPr/>
        </p:nvSpPr>
        <p:spPr>
          <a:xfrm>
            <a:off x="1627632" y="15948233"/>
            <a:ext cx="256032" cy="384048"/>
          </a:xfrm>
          <a:prstGeom prst="downArrow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353312" y="17181576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64538" y="17392802"/>
            <a:ext cx="326440" cy="326440"/>
          </a:xfrm>
          <a:prstGeom prst="rect">
            <a:avLst/>
          </a:prstGeom>
          <a:solidFill>
            <a:srgbClr val="DAF4EE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1506931" y="17556022"/>
            <a:ext cx="57607" cy="0"/>
          </a:xfrm>
          <a:prstGeom prst="line">
            <a:avLst/>
          </a:prstGeom>
          <a:ln w="12700">
            <a:solidFill>
              <a:srgbClr val="23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890979" y="17556022"/>
            <a:ext cx="48006" cy="0"/>
          </a:xfrm>
          <a:prstGeom prst="line">
            <a:avLst/>
          </a:prstGeom>
          <a:ln w="12700">
            <a:solidFill>
              <a:srgbClr val="2367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593342" y="17460010"/>
            <a:ext cx="268833" cy="13441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77" b="1">
                <a:solidFill>
                  <a:srgbClr val="236792"/>
                </a:solidFill>
                <a:latin typeface="Aptos"/>
              </a:rPr>
              <a:t>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04288" y="17199864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81F2C"/>
                </a:solidFill>
                <a:latin typeface="Aptos"/>
              </a:rPr>
              <a:t>Modeling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04288" y="17620488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1606C"/>
                </a:solidFill>
                <a:latin typeface="Aptos"/>
              </a:rPr>
              <a:t>LR, SVM, RF, HGB, NN</a:t>
            </a:r>
          </a:p>
        </p:txBody>
      </p:sp>
      <p:sp>
        <p:nvSpPr>
          <p:cNvPr id="91" name="Down Arrow 90"/>
          <p:cNvSpPr/>
          <p:nvPr/>
        </p:nvSpPr>
        <p:spPr>
          <a:xfrm>
            <a:off x="1627632" y="18517697"/>
            <a:ext cx="256032" cy="384048"/>
          </a:xfrm>
          <a:prstGeom prst="downArrow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353312" y="19751040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E8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564538" y="20154290"/>
            <a:ext cx="67208" cy="172821"/>
          </a:xfrm>
          <a:prstGeom prst="rect">
            <a:avLst/>
          </a:prstGeom>
          <a:solidFill>
            <a:srgbClr val="0E8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70151" y="20039076"/>
            <a:ext cx="67208" cy="288036"/>
          </a:xfrm>
          <a:prstGeom prst="rect">
            <a:avLst/>
          </a:prstGeom>
          <a:solidFill>
            <a:srgbClr val="0E8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75764" y="19923861"/>
            <a:ext cx="67208" cy="403250"/>
          </a:xfrm>
          <a:prstGeom prst="rect">
            <a:avLst/>
          </a:prstGeom>
          <a:solidFill>
            <a:srgbClr val="0E8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04288" y="19769328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81F2C"/>
                </a:solidFill>
                <a:latin typeface="Aptos"/>
              </a:rPr>
              <a:t>Evaluation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04288" y="20189952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1606C"/>
                </a:solidFill>
                <a:latin typeface="Aptos"/>
              </a:rPr>
              <a:t>F1, AUC, runtime</a:t>
            </a:r>
          </a:p>
        </p:txBody>
      </p:sp>
      <p:sp>
        <p:nvSpPr>
          <p:cNvPr id="98" name="Down Arrow 97"/>
          <p:cNvSpPr/>
          <p:nvPr/>
        </p:nvSpPr>
        <p:spPr>
          <a:xfrm>
            <a:off x="1627632" y="21087161"/>
            <a:ext cx="256032" cy="384048"/>
          </a:xfrm>
          <a:prstGeom prst="downArrow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53312" y="22320504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 rot="19920000">
            <a:off x="1593342" y="22502926"/>
            <a:ext cx="345643" cy="230428"/>
          </a:xfrm>
          <a:prstGeom prst="ellipse">
            <a:avLst/>
          </a:prstGeom>
          <a:solidFill>
            <a:srgbClr val="5BB876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04288" y="22338792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081F2C"/>
                </a:solidFill>
                <a:latin typeface="Aptos"/>
              </a:rPr>
              <a:t>Insights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04288" y="22759416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1606C"/>
                </a:solidFill>
                <a:latin typeface="Aptos"/>
              </a:rPr>
              <a:t>Pareto + guidance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72600" y="8330183"/>
            <a:ext cx="11795760" cy="6766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372600" y="8330183"/>
            <a:ext cx="11795760" cy="438912"/>
          </a:xfrm>
          <a:prstGeom prst="roundRect">
            <a:avLst/>
          </a:prstGeom>
          <a:solidFill>
            <a:srgbClr val="0E8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73768" y="8366759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95560" y="8394192"/>
            <a:ext cx="107899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RESEARCH QUESTIONS</a:t>
            </a:r>
          </a:p>
        </p:txBody>
      </p:sp>
      <p:sp>
        <p:nvSpPr>
          <p:cNvPr id="107" name="Oval 106"/>
          <p:cNvSpPr/>
          <p:nvPr/>
        </p:nvSpPr>
        <p:spPr>
          <a:xfrm>
            <a:off x="9811512" y="9134856"/>
            <a:ext cx="438912" cy="438912"/>
          </a:xfrm>
          <a:prstGeom prst="ellipse">
            <a:avLst/>
          </a:prstGeom>
          <a:solidFill>
            <a:srgbClr val="46AE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811512" y="9174358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15016" y="9162288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81F2C"/>
                </a:solidFill>
                <a:latin typeface="Aptos"/>
              </a:rPr>
              <a:t>Which model is Pareto-efficient?</a:t>
            </a:r>
          </a:p>
        </p:txBody>
      </p:sp>
      <p:sp>
        <p:nvSpPr>
          <p:cNvPr id="110" name="Oval 109"/>
          <p:cNvSpPr/>
          <p:nvPr/>
        </p:nvSpPr>
        <p:spPr>
          <a:xfrm>
            <a:off x="9811512" y="9884664"/>
            <a:ext cx="438912" cy="438912"/>
          </a:xfrm>
          <a:prstGeom prst="ellipse">
            <a:avLst/>
          </a:prstGeom>
          <a:solidFill>
            <a:srgbClr val="46AE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11512" y="9924166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15016" y="9912096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81F2C"/>
                </a:solidFill>
                <a:latin typeface="Aptos"/>
              </a:rPr>
              <a:t>Which feature families add value?</a:t>
            </a:r>
          </a:p>
        </p:txBody>
      </p:sp>
      <p:sp>
        <p:nvSpPr>
          <p:cNvPr id="113" name="Oval 112"/>
          <p:cNvSpPr/>
          <p:nvPr/>
        </p:nvSpPr>
        <p:spPr>
          <a:xfrm>
            <a:off x="9811512" y="10634472"/>
            <a:ext cx="438912" cy="438912"/>
          </a:xfrm>
          <a:prstGeom prst="ellipse">
            <a:avLst/>
          </a:prstGeom>
          <a:solidFill>
            <a:srgbClr val="46AE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11512" y="10673974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15016" y="10661904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81F2C"/>
                </a:solidFill>
                <a:latin typeface="Aptos"/>
              </a:rPr>
              <a:t>Are rankings seasonally stable?</a:t>
            </a:r>
          </a:p>
        </p:txBody>
      </p:sp>
      <p:sp>
        <p:nvSpPr>
          <p:cNvPr id="116" name="Oval 115"/>
          <p:cNvSpPr/>
          <p:nvPr/>
        </p:nvSpPr>
        <p:spPr>
          <a:xfrm>
            <a:off x="9811512" y="11384280"/>
            <a:ext cx="438912" cy="438912"/>
          </a:xfrm>
          <a:prstGeom prst="ellipse">
            <a:avLst/>
          </a:prstGeom>
          <a:solidFill>
            <a:srgbClr val="46AE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811512" y="11423782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15016" y="11411711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81F2C"/>
                </a:solidFill>
                <a:latin typeface="Aptos"/>
              </a:rPr>
              <a:t>Can simple models explain drivers?</a:t>
            </a:r>
          </a:p>
        </p:txBody>
      </p:sp>
      <p:sp>
        <p:nvSpPr>
          <p:cNvPr id="119" name="Oval 118"/>
          <p:cNvSpPr/>
          <p:nvPr/>
        </p:nvSpPr>
        <p:spPr>
          <a:xfrm>
            <a:off x="9811512" y="12134088"/>
            <a:ext cx="438912" cy="438912"/>
          </a:xfrm>
          <a:prstGeom prst="ellipse">
            <a:avLst/>
          </a:prstGeom>
          <a:solidFill>
            <a:srgbClr val="46AE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811512" y="12173590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15016" y="12161519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081F2C"/>
                </a:solidFill>
                <a:latin typeface="Aptos"/>
              </a:rPr>
              <a:t>Do green training windows help?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1762720" y="8330183"/>
            <a:ext cx="21214080" cy="9601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21762720" y="8330183"/>
            <a:ext cx="21214080" cy="438912"/>
          </a:xfrm>
          <a:prstGeom prst="roundRect">
            <a:avLst/>
          </a:prstGeom>
          <a:solidFill>
            <a:srgbClr val="23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1963888" y="8366759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585680" y="8394192"/>
            <a:ext cx="202082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KEY RESULTS (HIGHLIGHTS)</a:t>
            </a:r>
          </a:p>
        </p:txBody>
      </p:sp>
      <p:graphicFrame>
        <p:nvGraphicFramePr>
          <p:cNvPr id="126" name="Chart 125"/>
          <p:cNvGraphicFramePr>
            <a:graphicFrameLocks noGrp="1"/>
          </p:cNvGraphicFramePr>
          <p:nvPr/>
        </p:nvGraphicFramePr>
        <p:xfrm>
          <a:off x="22265640" y="9089136"/>
          <a:ext cx="9295790" cy="34797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7" name="Chart 126"/>
          <p:cNvGraphicFramePr>
            <a:graphicFrameLocks noGrp="1"/>
          </p:cNvGraphicFramePr>
          <p:nvPr/>
        </p:nvGraphicFramePr>
        <p:xfrm>
          <a:off x="32369760" y="9089136"/>
          <a:ext cx="9699955" cy="34797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8" name="Chart 127"/>
          <p:cNvGraphicFramePr>
            <a:graphicFrameLocks noGrp="1"/>
          </p:cNvGraphicFramePr>
          <p:nvPr/>
        </p:nvGraphicFramePr>
        <p:xfrm>
          <a:off x="22265640" y="13135355"/>
          <a:ext cx="9295790" cy="33988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9" name="TextBox 128"/>
          <p:cNvSpPr txBox="1"/>
          <p:nvPr/>
        </p:nvSpPr>
        <p:spPr>
          <a:xfrm>
            <a:off x="33380172" y="13539978"/>
            <a:ext cx="3233318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46AE5E"/>
                </a:solidFill>
                <a:latin typeface="Aptos"/>
              </a:rPr>
              <a:t>31.9%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380172" y="14106906"/>
            <a:ext cx="3233318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1606C"/>
                </a:solidFill>
                <a:latin typeface="Aptos"/>
              </a:rPr>
              <a:t>green-window reduction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815572" y="13539978"/>
            <a:ext cx="2627071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0E8D82"/>
                </a:solidFill>
                <a:latin typeface="Aptos"/>
              </a:rPr>
              <a:t>0.899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815572" y="14106906"/>
            <a:ext cx="2627071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1606C"/>
                </a:solidFill>
                <a:latin typeface="Aptos"/>
              </a:rPr>
              <a:t>best F1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442644" y="13539978"/>
            <a:ext cx="2424988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236792"/>
                </a:solidFill>
                <a:latin typeface="Aptos"/>
              </a:rPr>
              <a:t>0.993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442644" y="14106906"/>
            <a:ext cx="2424988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1606C"/>
                </a:solidFill>
                <a:latin typeface="Aptos"/>
              </a:rPr>
              <a:t>ROC-AUC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773924" y="15401239"/>
            <a:ext cx="8891625" cy="84124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450" b="1">
                <a:solidFill>
                  <a:srgbClr val="081F2C"/>
                </a:solidFill>
                <a:latin typeface="Aptos"/>
              </a:rPr>
              <a:t>HGB is the balanced recommendation; Linear SVM is the lowest-compute fallback.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372600" y="15553943"/>
            <a:ext cx="11795760" cy="4892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9372600" y="15553943"/>
            <a:ext cx="11795760" cy="438912"/>
          </a:xfrm>
          <a:prstGeom prst="roundRect">
            <a:avLst/>
          </a:prstGeom>
          <a:solidFill>
            <a:srgbClr val="46A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573768" y="15590519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195560" y="15617951"/>
            <a:ext cx="107899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KEY FINDINGS</a:t>
            </a:r>
          </a:p>
        </p:txBody>
      </p:sp>
      <p:sp>
        <p:nvSpPr>
          <p:cNvPr id="140" name="Oval 139"/>
          <p:cNvSpPr/>
          <p:nvPr/>
        </p:nvSpPr>
        <p:spPr>
          <a:xfrm>
            <a:off x="9811512" y="16303751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Pentagon 140"/>
          <p:cNvSpPr/>
          <p:nvPr/>
        </p:nvSpPr>
        <p:spPr>
          <a:xfrm>
            <a:off x="9908072" y="16382756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930018" y="16435425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46AE5E"/>
                </a:solidFill>
                <a:latin typeface="Aptos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14432" y="16331184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081F2C"/>
                </a:solidFill>
                <a:latin typeface="Aptos"/>
              </a:rPr>
              <a:t>HGB: best F1 and Pareto-efficient.</a:t>
            </a:r>
          </a:p>
        </p:txBody>
      </p:sp>
      <p:sp>
        <p:nvSpPr>
          <p:cNvPr id="144" name="Oval 143"/>
          <p:cNvSpPr/>
          <p:nvPr/>
        </p:nvSpPr>
        <p:spPr>
          <a:xfrm>
            <a:off x="9811512" y="16989552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Pentagon 144"/>
          <p:cNvSpPr/>
          <p:nvPr/>
        </p:nvSpPr>
        <p:spPr>
          <a:xfrm>
            <a:off x="9908072" y="17068556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930018" y="17121225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36792"/>
                </a:solidFill>
                <a:latin typeface="Aptos"/>
              </a:rPr>
              <a:t>✓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14432" y="17016984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081F2C"/>
                </a:solidFill>
                <a:latin typeface="Aptos"/>
              </a:rPr>
              <a:t>Load history gives the largest feature gain.</a:t>
            </a:r>
          </a:p>
        </p:txBody>
      </p:sp>
      <p:sp>
        <p:nvSpPr>
          <p:cNvPr id="148" name="Oval 147"/>
          <p:cNvSpPr/>
          <p:nvPr/>
        </p:nvSpPr>
        <p:spPr>
          <a:xfrm>
            <a:off x="9811512" y="17675352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Pentagon 148"/>
          <p:cNvSpPr/>
          <p:nvPr/>
        </p:nvSpPr>
        <p:spPr>
          <a:xfrm>
            <a:off x="9908072" y="17754356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46A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930018" y="17807025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46AE5E"/>
                </a:solidFill>
                <a:latin typeface="Aptos"/>
              </a:rPr>
              <a:t>✓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314432" y="17702784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081F2C"/>
                </a:solidFill>
                <a:latin typeface="Aptos"/>
              </a:rPr>
              <a:t>Summer is the hardest seasonal regime.</a:t>
            </a:r>
          </a:p>
        </p:txBody>
      </p:sp>
      <p:sp>
        <p:nvSpPr>
          <p:cNvPr id="152" name="Oval 151"/>
          <p:cNvSpPr/>
          <p:nvPr/>
        </p:nvSpPr>
        <p:spPr>
          <a:xfrm>
            <a:off x="9811512" y="18361152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Pentagon 152"/>
          <p:cNvSpPr/>
          <p:nvPr/>
        </p:nvSpPr>
        <p:spPr>
          <a:xfrm>
            <a:off x="9908072" y="18440156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36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930018" y="18492825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36792"/>
                </a:solidFill>
                <a:latin typeface="Aptos"/>
              </a:rPr>
              <a:t>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14432" y="18388584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081F2C"/>
                </a:solidFill>
                <a:latin typeface="Aptos"/>
              </a:rPr>
              <a:t>Use low-compute baselines for auditability.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1762720" y="18388584"/>
            <a:ext cx="21214080" cy="4800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21762720" y="18388584"/>
            <a:ext cx="21214080" cy="438912"/>
          </a:xfrm>
          <a:prstGeom prst="roundRect">
            <a:avLst/>
          </a:prstGeom>
          <a:solidFill>
            <a:srgbClr val="0E8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1963888" y="18425160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585680" y="18452592"/>
            <a:ext cx="202082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2265640" y="19138392"/>
            <a:ext cx="20116800" cy="11704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081F2C"/>
                </a:solidFill>
                <a:latin typeface="Aptos"/>
              </a:rPr>
              <a:t>Responsible model selection should be Pareto-based: accuracy, carbon proxy, runtime, model size, seasonal robustness and auditability are evaluated together.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448520" y="20720304"/>
            <a:ext cx="19659600" cy="93268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0">
                <a:solidFill>
                  <a:srgbClr val="51606C"/>
                </a:solidFill>
                <a:latin typeface="Aptos"/>
              </a:rPr>
              <a:t>Recommended balanced model: Histogram Gradient Boosting. Recommended low-compute fallback: Linear SVM. Next step: replace proxy energy with measured hardware power.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24003000"/>
            <a:ext cx="43891200" cy="685800"/>
          </a:xfrm>
          <a:prstGeom prst="rect">
            <a:avLst/>
          </a:prstGeom>
          <a:solidFill>
            <a:srgbClr val="0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05840" y="24112728"/>
            <a:ext cx="409651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D4EEE6"/>
                </a:solidFill>
                <a:latin typeface="Aptos"/>
              </a:rPr>
              <a:t>Dataset: Open Power System Data Time Series (2020-10-06) | Reproducible notebooks, figures, tables, workflow, and IEEE/PES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2907792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34747200" cy="9144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600" b="1">
                <a:solidFill>
                  <a:srgbClr val="133043"/>
                </a:solidFill>
                <a:latin typeface="Aptos Display"/>
              </a:rPr>
              <a:t>Auditing Carbon-Aware AI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25296"/>
            <a:ext cx="34747200" cy="53035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133043"/>
                </a:solidFill>
                <a:latin typeface="Aptos"/>
              </a:rPr>
              <a:t>Accuracy, Sustainability, Transparency and Robustness in German Power-System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956816"/>
            <a:ext cx="34747200" cy="38404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0">
                <a:solidFill>
                  <a:srgbClr val="57606A"/>
                </a:solidFill>
                <a:latin typeface="Aptos"/>
              </a:rPr>
              <a:t>AI, Power &amp; Responsibility - Governing Intelligent Systems for Sustainability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749808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88973" y="1041501"/>
            <a:ext cx="450799" cy="450799"/>
          </a:xfrm>
          <a:prstGeom prst="rect">
            <a:avLst/>
          </a:prstGeom>
          <a:solidFill>
            <a:srgbClr val="DAF4EE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09420" y="1266901"/>
            <a:ext cx="79553" cy="0"/>
          </a:xfrm>
          <a:prstGeom prst="line">
            <a:avLst/>
          </a:prstGeom>
          <a:ln w="12700">
            <a:solidFill>
              <a:srgbClr val="3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839772" y="1266901"/>
            <a:ext cx="66294" cy="0"/>
          </a:xfrm>
          <a:prstGeom prst="line">
            <a:avLst/>
          </a:prstGeom>
          <a:ln w="12700">
            <a:solidFill>
              <a:srgbClr val="3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28750" y="1134313"/>
            <a:ext cx="371246" cy="185623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797" b="1">
                <a:solidFill>
                  <a:srgbClr val="3064A2"/>
                </a:solidFill>
                <a:latin typeface="Aptos"/>
              </a:rPr>
              <a:t>AI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749808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9920000">
            <a:off x="2251710" y="1001725"/>
            <a:ext cx="477316" cy="318211"/>
          </a:xfrm>
          <a:prstGeom prst="ellipse">
            <a:avLst/>
          </a:prstGeom>
          <a:solidFill>
            <a:srgbClr val="5BB876"/>
          </a:solidFill>
          <a:ln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56560" y="749808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41348253" y="1014983"/>
            <a:ext cx="477316" cy="556869"/>
          </a:xfrm>
          <a:prstGeom prst="can">
            <a:avLst/>
          </a:prstGeom>
          <a:solidFill>
            <a:srgbClr val="DBF0F9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879520" y="749808"/>
            <a:ext cx="1034186" cy="1034186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entagon 15"/>
          <p:cNvSpPr/>
          <p:nvPr/>
        </p:nvSpPr>
        <p:spPr>
          <a:xfrm>
            <a:off x="42171213" y="988466"/>
            <a:ext cx="477316" cy="570128"/>
          </a:xfrm>
          <a:prstGeom prst="homePlate">
            <a:avLst/>
          </a:prstGeom>
          <a:solidFill>
            <a:srgbClr val="E8F6F0"/>
          </a:solidFill>
          <a:ln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37507" y="1147572"/>
            <a:ext cx="344728" cy="159105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160" b="1">
                <a:solidFill>
                  <a:srgbClr val="2A9D67"/>
                </a:solidFill>
                <a:latin typeface="Aptos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310128"/>
            <a:ext cx="2029968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310128"/>
            <a:ext cx="20299680" cy="438912"/>
          </a:xfrm>
          <a:prstGeom prst="roundRect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3467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374136"/>
            <a:ext cx="192938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MOTIVATION</a:t>
            </a:r>
          </a:p>
        </p:txBody>
      </p:sp>
      <p:sp>
        <p:nvSpPr>
          <p:cNvPr id="22" name="Oval 21"/>
          <p:cNvSpPr/>
          <p:nvPr/>
        </p:nvSpPr>
        <p:spPr>
          <a:xfrm>
            <a:off x="1298448" y="4059935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9920000">
            <a:off x="1408176" y="4143329"/>
            <a:ext cx="158008" cy="105338"/>
          </a:xfrm>
          <a:prstGeom prst="ellipse">
            <a:avLst/>
          </a:prstGeom>
          <a:solidFill>
            <a:srgbClr val="5BB876"/>
          </a:solidFill>
          <a:ln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1368" y="4087368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133043"/>
                </a:solidFill>
                <a:latin typeface="Aptos"/>
              </a:rPr>
              <a:t>Accuracy-only ML model choice hides compute and carbon costs.</a:t>
            </a:r>
          </a:p>
        </p:txBody>
      </p:sp>
      <p:sp>
        <p:nvSpPr>
          <p:cNvPr id="25" name="Oval 24"/>
          <p:cNvSpPr/>
          <p:nvPr/>
        </p:nvSpPr>
        <p:spPr>
          <a:xfrm>
            <a:off x="1298448" y="4818888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entagon 25"/>
          <p:cNvSpPr/>
          <p:nvPr/>
        </p:nvSpPr>
        <p:spPr>
          <a:xfrm>
            <a:off x="1395008" y="4897892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6954" y="4950561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3064A2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1368" y="4846320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133043"/>
                </a:solidFill>
                <a:latin typeface="Aptos"/>
              </a:rPr>
              <a:t>German grid analytics needs robust, season-aware evidence.</a:t>
            </a:r>
          </a:p>
        </p:txBody>
      </p:sp>
      <p:sp>
        <p:nvSpPr>
          <p:cNvPr id="29" name="Oval 28"/>
          <p:cNvSpPr/>
          <p:nvPr/>
        </p:nvSpPr>
        <p:spPr>
          <a:xfrm>
            <a:off x="1298448" y="5577840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 rot="19920000">
            <a:off x="1408176" y="5661233"/>
            <a:ext cx="158008" cy="105338"/>
          </a:xfrm>
          <a:prstGeom prst="ellipse">
            <a:avLst/>
          </a:prstGeom>
          <a:solidFill>
            <a:srgbClr val="5BB876"/>
          </a:solidFill>
          <a:ln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1368" y="5605272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133043"/>
                </a:solidFill>
                <a:latin typeface="Aptos"/>
              </a:rPr>
              <a:t>Transparent reporting should include F1, AUC, runtime and size.</a:t>
            </a:r>
          </a:p>
        </p:txBody>
      </p:sp>
      <p:sp>
        <p:nvSpPr>
          <p:cNvPr id="32" name="Oval 31"/>
          <p:cNvSpPr/>
          <p:nvPr/>
        </p:nvSpPr>
        <p:spPr>
          <a:xfrm>
            <a:off x="1298448" y="6336791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entagon 32"/>
          <p:cNvSpPr/>
          <p:nvPr/>
        </p:nvSpPr>
        <p:spPr>
          <a:xfrm>
            <a:off x="1395008" y="6415796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6954" y="6468465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3064A2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1368" y="6364223"/>
            <a:ext cx="185166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133043"/>
                </a:solidFill>
                <a:latin typeface="Aptos"/>
              </a:rPr>
              <a:t>Carbon-aware scheduling can reduce avoidable training impact.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0" y="3310128"/>
            <a:ext cx="2103120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945600" y="3310128"/>
            <a:ext cx="21031200" cy="438912"/>
          </a:xfrm>
          <a:prstGeom prst="roundRect">
            <a:avLst/>
          </a:prstGeom>
          <a:solidFill>
            <a:srgbClr val="3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146768" y="33467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68560" y="3374136"/>
            <a:ext cx="2002536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DATASETS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357080" y="4178808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585680" y="4489704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n 41"/>
          <p:cNvSpPr/>
          <p:nvPr/>
        </p:nvSpPr>
        <p:spPr>
          <a:xfrm>
            <a:off x="22758684" y="4646980"/>
            <a:ext cx="283098" cy="330281"/>
          </a:xfrm>
          <a:prstGeom prst="can">
            <a:avLst/>
          </a:prstGeom>
          <a:solidFill>
            <a:srgbClr val="DBF0F9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344632" y="4398264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133043"/>
                </a:solidFill>
                <a:latin typeface="Aptos"/>
              </a:rPr>
              <a:t>OPSD Time Series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44632" y="4937760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08080"/>
                </a:solidFill>
                <a:latin typeface="Aptos"/>
              </a:rPr>
              <a:t>~50,401 raw hourly rows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44632" y="5422392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7606A"/>
                </a:solidFill>
                <a:latin typeface="Aptos"/>
              </a:rPr>
              <a:t>load, wind, solar, TSO zones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169360" y="4178808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397960" y="4489704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570964" y="4819985"/>
            <a:ext cx="55046" cy="141549"/>
          </a:xfrm>
          <a:prstGeom prst="rect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657466" y="4725619"/>
            <a:ext cx="55046" cy="235915"/>
          </a:xfrm>
          <a:prstGeom prst="rect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743968" y="4631253"/>
            <a:ext cx="55046" cy="330281"/>
          </a:xfrm>
          <a:prstGeom prst="rect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56911" y="4398264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133043"/>
                </a:solidFill>
                <a:latin typeface="Aptos"/>
              </a:rPr>
              <a:t>Processed ML 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56911" y="4937760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08080"/>
                </a:solidFill>
                <a:latin typeface="Aptos"/>
              </a:rPr>
              <a:t>50,209 rows; 29 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56911" y="5422392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7606A"/>
                </a:solidFill>
                <a:latin typeface="Aptos"/>
              </a:rPr>
              <a:t>lags, residual-load proxy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981640" y="4178808"/>
            <a:ext cx="6583680" cy="2212848"/>
          </a:xfrm>
          <a:prstGeom prst="roundRect">
            <a:avLst/>
          </a:prstGeom>
          <a:solidFill>
            <a:srgbClr val="F9FDFC"/>
          </a:solidFill>
          <a:ln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210240" y="4489704"/>
            <a:ext cx="613379" cy="613379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ocument 55"/>
          <p:cNvSpPr/>
          <p:nvPr/>
        </p:nvSpPr>
        <p:spPr>
          <a:xfrm>
            <a:off x="36391108" y="4631253"/>
            <a:ext cx="267370" cy="353872"/>
          </a:xfrm>
          <a:prstGeom prst="flowChartDocument">
            <a:avLst/>
          </a:prstGeom>
          <a:solidFill>
            <a:srgbClr val="F8FCFC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969192" y="4398264"/>
            <a:ext cx="5440680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133043"/>
                </a:solidFill>
                <a:latin typeface="Aptos"/>
              </a:rPr>
              <a:t>Artifacts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69192" y="4937760"/>
            <a:ext cx="5440680" cy="42062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20" b="1">
                <a:solidFill>
                  <a:srgbClr val="008080"/>
                </a:solidFill>
                <a:latin typeface="Aptos"/>
              </a:rPr>
              <a:t>5 notebooks; 10 figures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969192" y="5422392"/>
            <a:ext cx="5440680" cy="6583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7606A"/>
                </a:solidFill>
                <a:latin typeface="Aptos"/>
              </a:rPr>
              <a:t>CSV tables + IEEE report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8110728"/>
            <a:ext cx="7955279" cy="14859000"/>
          </a:xfrm>
          <a:prstGeom prst="roundRect">
            <a:avLst/>
          </a:prstGeom>
          <a:solidFill>
            <a:srgbClr val="F7FCFB"/>
          </a:solidFill>
          <a:ln w="1651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4400" y="8110728"/>
            <a:ext cx="7955279" cy="438912"/>
          </a:xfrm>
          <a:prstGeom prst="roundRect">
            <a:avLst/>
          </a:prstGeom>
          <a:solidFill>
            <a:srgbClr val="3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5568" y="81473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37360" y="8174736"/>
            <a:ext cx="694944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METHODOLOGY PIPELINE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755648" y="9582912"/>
            <a:ext cx="0" cy="12847320"/>
          </a:xfrm>
          <a:prstGeom prst="line">
            <a:avLst/>
          </a:prstGeom>
          <a:ln w="25400">
            <a:solidFill>
              <a:srgbClr val="AC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353312" y="9253728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an 65"/>
          <p:cNvSpPr/>
          <p:nvPr/>
        </p:nvSpPr>
        <p:spPr>
          <a:xfrm>
            <a:off x="1564538" y="9445752"/>
            <a:ext cx="345643" cy="403250"/>
          </a:xfrm>
          <a:prstGeom prst="can">
            <a:avLst/>
          </a:prstGeom>
          <a:solidFill>
            <a:srgbClr val="DBF0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04288" y="9272016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33043"/>
                </a:solidFill>
                <a:latin typeface="Aptos"/>
              </a:rPr>
              <a:t>Data collection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04288" y="9692640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7606A"/>
                </a:solidFill>
                <a:latin typeface="Aptos"/>
              </a:rPr>
              <a:t>OPSD hourly data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1627632" y="10589849"/>
            <a:ext cx="256032" cy="384048"/>
          </a:xfrm>
          <a:prstGeom prst="downArrow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353312" y="11823192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entagon 70"/>
          <p:cNvSpPr/>
          <p:nvPr/>
        </p:nvSpPr>
        <p:spPr>
          <a:xfrm>
            <a:off x="1564538" y="11996013"/>
            <a:ext cx="345643" cy="412851"/>
          </a:xfrm>
          <a:prstGeom prst="homePlate">
            <a:avLst/>
          </a:prstGeom>
          <a:solidFill>
            <a:srgbClr val="E8F6F0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12544" y="12111228"/>
            <a:ext cx="249631" cy="11521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3064A2"/>
                </a:solidFill>
                <a:latin typeface="Aptos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04288" y="11841480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33043"/>
                </a:solidFill>
                <a:latin typeface="Aptos"/>
              </a:rPr>
              <a:t>Preprocessing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04288" y="12262104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7606A"/>
                </a:solidFill>
                <a:latin typeface="Aptos"/>
              </a:rPr>
              <a:t>interpolate, align UTC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1627632" y="13159313"/>
            <a:ext cx="256032" cy="384048"/>
          </a:xfrm>
          <a:prstGeom prst="downArrow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53312" y="14392656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564538" y="14603882"/>
            <a:ext cx="326440" cy="326440"/>
          </a:xfrm>
          <a:prstGeom prst="rect">
            <a:avLst/>
          </a:prstGeom>
          <a:solidFill>
            <a:srgbClr val="DAF4EE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506931" y="14767102"/>
            <a:ext cx="57607" cy="0"/>
          </a:xfrm>
          <a:prstGeom prst="line">
            <a:avLst/>
          </a:prstGeom>
          <a:ln w="127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890979" y="14767102"/>
            <a:ext cx="48006" cy="0"/>
          </a:xfrm>
          <a:prstGeom prst="line">
            <a:avLst/>
          </a:prstGeom>
          <a:ln w="127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593342" y="14671090"/>
            <a:ext cx="268833" cy="13441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77" b="1">
                <a:solidFill>
                  <a:srgbClr val="008080"/>
                </a:solidFill>
                <a:latin typeface="Aptos"/>
              </a:rPr>
              <a:t>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4288" y="14410944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33043"/>
                </a:solidFill>
                <a:latin typeface="Aptos"/>
              </a:rPr>
              <a:t>Feature engineering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04288" y="14831568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7606A"/>
                </a:solidFill>
                <a:latin typeface="Aptos"/>
              </a:rPr>
              <a:t>lags, RES, TSO zones</a:t>
            </a:r>
          </a:p>
        </p:txBody>
      </p:sp>
      <p:sp>
        <p:nvSpPr>
          <p:cNvPr id="83" name="Down Arrow 82"/>
          <p:cNvSpPr/>
          <p:nvPr/>
        </p:nvSpPr>
        <p:spPr>
          <a:xfrm>
            <a:off x="1627632" y="15728777"/>
            <a:ext cx="256032" cy="384048"/>
          </a:xfrm>
          <a:prstGeom prst="downArrow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353312" y="16962120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64538" y="17173346"/>
            <a:ext cx="326440" cy="326440"/>
          </a:xfrm>
          <a:prstGeom prst="rect">
            <a:avLst/>
          </a:prstGeom>
          <a:solidFill>
            <a:srgbClr val="DAF4EE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1506931" y="17336566"/>
            <a:ext cx="57607" cy="0"/>
          </a:xfrm>
          <a:prstGeom prst="line">
            <a:avLst/>
          </a:prstGeom>
          <a:ln w="12700">
            <a:solidFill>
              <a:srgbClr val="3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890979" y="17336566"/>
            <a:ext cx="48006" cy="0"/>
          </a:xfrm>
          <a:prstGeom prst="line">
            <a:avLst/>
          </a:prstGeom>
          <a:ln w="12700">
            <a:solidFill>
              <a:srgbClr val="3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593342" y="17240554"/>
            <a:ext cx="268833" cy="13441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577" b="1">
                <a:solidFill>
                  <a:srgbClr val="3064A2"/>
                </a:solidFill>
                <a:latin typeface="Aptos"/>
              </a:rPr>
              <a:t>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04288" y="16980408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33043"/>
                </a:solidFill>
                <a:latin typeface="Aptos"/>
              </a:rPr>
              <a:t>Modeling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04288" y="17401032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7606A"/>
                </a:solidFill>
                <a:latin typeface="Aptos"/>
              </a:rPr>
              <a:t>LR, SVM, RF, HGB, NN</a:t>
            </a:r>
          </a:p>
        </p:txBody>
      </p:sp>
      <p:sp>
        <p:nvSpPr>
          <p:cNvPr id="91" name="Down Arrow 90"/>
          <p:cNvSpPr/>
          <p:nvPr/>
        </p:nvSpPr>
        <p:spPr>
          <a:xfrm>
            <a:off x="1627632" y="18298241"/>
            <a:ext cx="256032" cy="384048"/>
          </a:xfrm>
          <a:prstGeom prst="downArrow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353312" y="19531584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564538" y="19934834"/>
            <a:ext cx="67208" cy="172821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70151" y="19819620"/>
            <a:ext cx="67208" cy="2880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75764" y="19704405"/>
            <a:ext cx="67208" cy="40325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04288" y="19549872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33043"/>
                </a:solidFill>
                <a:latin typeface="Aptos"/>
              </a:rPr>
              <a:t>Evaluation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04288" y="19970496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7606A"/>
                </a:solidFill>
                <a:latin typeface="Aptos"/>
              </a:rPr>
              <a:t>F1, AUC, runtime</a:t>
            </a:r>
          </a:p>
        </p:txBody>
      </p:sp>
      <p:sp>
        <p:nvSpPr>
          <p:cNvPr id="98" name="Down Arrow 97"/>
          <p:cNvSpPr/>
          <p:nvPr/>
        </p:nvSpPr>
        <p:spPr>
          <a:xfrm>
            <a:off x="1627632" y="20867705"/>
            <a:ext cx="256032" cy="384048"/>
          </a:xfrm>
          <a:prstGeom prst="downArrow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353312" y="22101048"/>
            <a:ext cx="748893" cy="748893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 rot="19920000">
            <a:off x="1593342" y="22283470"/>
            <a:ext cx="345643" cy="230428"/>
          </a:xfrm>
          <a:prstGeom prst="ellipse">
            <a:avLst/>
          </a:prstGeom>
          <a:solidFill>
            <a:srgbClr val="5BB876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04288" y="22119336"/>
            <a:ext cx="6355079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33043"/>
                </a:solidFill>
                <a:latin typeface="Aptos"/>
              </a:rPr>
              <a:t>Insights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04288" y="22539960"/>
            <a:ext cx="635507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180" b="0">
                <a:solidFill>
                  <a:srgbClr val="57606A"/>
                </a:solidFill>
                <a:latin typeface="Aptos"/>
              </a:rPr>
              <a:t>Pareto + guidance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72600" y="8110728"/>
            <a:ext cx="11795760" cy="6766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372600" y="8110728"/>
            <a:ext cx="11795760" cy="43891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73768" y="81473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95560" y="8174736"/>
            <a:ext cx="107899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RESEARCH QUESTIONS</a:t>
            </a:r>
          </a:p>
        </p:txBody>
      </p:sp>
      <p:sp>
        <p:nvSpPr>
          <p:cNvPr id="107" name="Oval 106"/>
          <p:cNvSpPr/>
          <p:nvPr/>
        </p:nvSpPr>
        <p:spPr>
          <a:xfrm>
            <a:off x="9811512" y="8915400"/>
            <a:ext cx="438912" cy="438912"/>
          </a:xfrm>
          <a:prstGeom prst="ellipse">
            <a:avLst/>
          </a:prstGeom>
          <a:solidFill>
            <a:srgbClr val="2A9D6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811512" y="8954902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15016" y="8942832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133043"/>
                </a:solidFill>
                <a:latin typeface="Aptos"/>
              </a:rPr>
              <a:t>Which model is Pareto-efficient?</a:t>
            </a:r>
          </a:p>
        </p:txBody>
      </p:sp>
      <p:sp>
        <p:nvSpPr>
          <p:cNvPr id="110" name="Oval 109"/>
          <p:cNvSpPr/>
          <p:nvPr/>
        </p:nvSpPr>
        <p:spPr>
          <a:xfrm>
            <a:off x="9811512" y="9665208"/>
            <a:ext cx="438912" cy="438912"/>
          </a:xfrm>
          <a:prstGeom prst="ellipse">
            <a:avLst/>
          </a:prstGeom>
          <a:solidFill>
            <a:srgbClr val="2A9D6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11512" y="9704710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15016" y="9692640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133043"/>
                </a:solidFill>
                <a:latin typeface="Aptos"/>
              </a:rPr>
              <a:t>Which feature families add value?</a:t>
            </a:r>
          </a:p>
        </p:txBody>
      </p:sp>
      <p:sp>
        <p:nvSpPr>
          <p:cNvPr id="113" name="Oval 112"/>
          <p:cNvSpPr/>
          <p:nvPr/>
        </p:nvSpPr>
        <p:spPr>
          <a:xfrm>
            <a:off x="9811512" y="10415016"/>
            <a:ext cx="438912" cy="438912"/>
          </a:xfrm>
          <a:prstGeom prst="ellipse">
            <a:avLst/>
          </a:prstGeom>
          <a:solidFill>
            <a:srgbClr val="2A9D6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11512" y="10454518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15016" y="10442448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133043"/>
                </a:solidFill>
                <a:latin typeface="Aptos"/>
              </a:rPr>
              <a:t>Are rankings seasonally stable?</a:t>
            </a:r>
          </a:p>
        </p:txBody>
      </p:sp>
      <p:sp>
        <p:nvSpPr>
          <p:cNvPr id="116" name="Oval 115"/>
          <p:cNvSpPr/>
          <p:nvPr/>
        </p:nvSpPr>
        <p:spPr>
          <a:xfrm>
            <a:off x="9811512" y="11164824"/>
            <a:ext cx="438912" cy="438912"/>
          </a:xfrm>
          <a:prstGeom prst="ellipse">
            <a:avLst/>
          </a:prstGeom>
          <a:solidFill>
            <a:srgbClr val="2A9D6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811512" y="11204326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15016" y="11192256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133043"/>
                </a:solidFill>
                <a:latin typeface="Aptos"/>
              </a:rPr>
              <a:t>Can simple models explain drivers?</a:t>
            </a:r>
          </a:p>
        </p:txBody>
      </p:sp>
      <p:sp>
        <p:nvSpPr>
          <p:cNvPr id="119" name="Oval 118"/>
          <p:cNvSpPr/>
          <p:nvPr/>
        </p:nvSpPr>
        <p:spPr>
          <a:xfrm>
            <a:off x="9811512" y="11914632"/>
            <a:ext cx="438912" cy="438912"/>
          </a:xfrm>
          <a:prstGeom prst="ellipse">
            <a:avLst/>
          </a:prstGeom>
          <a:solidFill>
            <a:srgbClr val="2A9D6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811512" y="11954134"/>
            <a:ext cx="438912" cy="2545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15016" y="11942064"/>
            <a:ext cx="10131552" cy="40233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133043"/>
                </a:solidFill>
                <a:latin typeface="Aptos"/>
              </a:rPr>
              <a:t>Do green training windows help?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1762720" y="8110728"/>
            <a:ext cx="21214080" cy="9601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21762720" y="8110728"/>
            <a:ext cx="21214080" cy="438912"/>
          </a:xfrm>
          <a:prstGeom prst="roundRect">
            <a:avLst/>
          </a:prstGeom>
          <a:solidFill>
            <a:srgbClr val="3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1963888" y="81473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585680" y="8174736"/>
            <a:ext cx="202082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KEY RESULTS (HIGHLIGHTS)</a:t>
            </a:r>
          </a:p>
        </p:txBody>
      </p:sp>
      <p:graphicFrame>
        <p:nvGraphicFramePr>
          <p:cNvPr id="126" name="Chart 125"/>
          <p:cNvGraphicFramePr>
            <a:graphicFrameLocks noGrp="1"/>
          </p:cNvGraphicFramePr>
          <p:nvPr/>
        </p:nvGraphicFramePr>
        <p:xfrm>
          <a:off x="22265640" y="8869680"/>
          <a:ext cx="9295790" cy="34797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7" name="Chart 126"/>
          <p:cNvGraphicFramePr>
            <a:graphicFrameLocks noGrp="1"/>
          </p:cNvGraphicFramePr>
          <p:nvPr/>
        </p:nvGraphicFramePr>
        <p:xfrm>
          <a:off x="32369760" y="8869680"/>
          <a:ext cx="9699955" cy="34797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8" name="Chart 127"/>
          <p:cNvGraphicFramePr>
            <a:graphicFrameLocks noGrp="1"/>
          </p:cNvGraphicFramePr>
          <p:nvPr/>
        </p:nvGraphicFramePr>
        <p:xfrm>
          <a:off x="22265640" y="12915900"/>
          <a:ext cx="9295790" cy="33988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9" name="TextBox 128"/>
          <p:cNvSpPr txBox="1"/>
          <p:nvPr/>
        </p:nvSpPr>
        <p:spPr>
          <a:xfrm>
            <a:off x="33380172" y="13320522"/>
            <a:ext cx="3233318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2A9D67"/>
                </a:solidFill>
                <a:latin typeface="Aptos"/>
              </a:rPr>
              <a:t>31.9%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380172" y="13887450"/>
            <a:ext cx="3233318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7606A"/>
                </a:solidFill>
                <a:latin typeface="Aptos"/>
              </a:rPr>
              <a:t>green-window reduction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815572" y="13320522"/>
            <a:ext cx="2627071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008080"/>
                </a:solidFill>
                <a:latin typeface="Aptos"/>
              </a:rPr>
              <a:t>0.899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815572" y="13887450"/>
            <a:ext cx="2627071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7606A"/>
                </a:solidFill>
                <a:latin typeface="Aptos"/>
              </a:rPr>
              <a:t>best F1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442644" y="13320522"/>
            <a:ext cx="2424988" cy="4572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3064A2"/>
                </a:solidFill>
                <a:latin typeface="Aptos"/>
              </a:rPr>
              <a:t>0.993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442644" y="13887450"/>
            <a:ext cx="2424988" cy="43891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20" b="0">
                <a:solidFill>
                  <a:srgbClr val="57606A"/>
                </a:solidFill>
                <a:latin typeface="Aptos"/>
              </a:rPr>
              <a:t>ROC-AUC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773924" y="15181783"/>
            <a:ext cx="8891625" cy="84124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450" b="1">
                <a:solidFill>
                  <a:srgbClr val="133043"/>
                </a:solidFill>
                <a:latin typeface="Aptos"/>
              </a:rPr>
              <a:t>HGB is the balanced recommendation; Linear SVM is the lowest-compute fallback.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372600" y="15334488"/>
            <a:ext cx="11795760" cy="4892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9372600" y="15334488"/>
            <a:ext cx="11795760" cy="438912"/>
          </a:xfrm>
          <a:prstGeom prst="roundRect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573768" y="1537106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195560" y="15398496"/>
            <a:ext cx="107899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KEY FINDINGS</a:t>
            </a:r>
          </a:p>
        </p:txBody>
      </p:sp>
      <p:sp>
        <p:nvSpPr>
          <p:cNvPr id="140" name="Oval 139"/>
          <p:cNvSpPr/>
          <p:nvPr/>
        </p:nvSpPr>
        <p:spPr>
          <a:xfrm>
            <a:off x="9811512" y="160842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Pentagon 140"/>
          <p:cNvSpPr/>
          <p:nvPr/>
        </p:nvSpPr>
        <p:spPr>
          <a:xfrm>
            <a:off x="9908072" y="16163300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930018" y="16215969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A9D67"/>
                </a:solidFill>
                <a:latin typeface="Aptos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14432" y="16111728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133043"/>
                </a:solidFill>
                <a:latin typeface="Aptos"/>
              </a:rPr>
              <a:t>HGB: best F1 and Pareto-efficient.</a:t>
            </a:r>
          </a:p>
        </p:txBody>
      </p:sp>
      <p:sp>
        <p:nvSpPr>
          <p:cNvPr id="144" name="Oval 143"/>
          <p:cNvSpPr/>
          <p:nvPr/>
        </p:nvSpPr>
        <p:spPr>
          <a:xfrm>
            <a:off x="9811512" y="167700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Pentagon 144"/>
          <p:cNvSpPr/>
          <p:nvPr/>
        </p:nvSpPr>
        <p:spPr>
          <a:xfrm>
            <a:off x="9908072" y="16849100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930018" y="16901769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3064A2"/>
                </a:solidFill>
                <a:latin typeface="Aptos"/>
              </a:rPr>
              <a:t>✓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14432" y="16797528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133043"/>
                </a:solidFill>
                <a:latin typeface="Aptos"/>
              </a:rPr>
              <a:t>Load history gives the largest feature gain.</a:t>
            </a:r>
          </a:p>
        </p:txBody>
      </p:sp>
      <p:sp>
        <p:nvSpPr>
          <p:cNvPr id="148" name="Oval 147"/>
          <p:cNvSpPr/>
          <p:nvPr/>
        </p:nvSpPr>
        <p:spPr>
          <a:xfrm>
            <a:off x="9811512" y="174558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Pentagon 148"/>
          <p:cNvSpPr/>
          <p:nvPr/>
        </p:nvSpPr>
        <p:spPr>
          <a:xfrm>
            <a:off x="9908072" y="17534900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2A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930018" y="17587569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2A9D67"/>
                </a:solidFill>
                <a:latin typeface="Aptos"/>
              </a:rPr>
              <a:t>✓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314432" y="17483328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133043"/>
                </a:solidFill>
                <a:latin typeface="Aptos"/>
              </a:rPr>
              <a:t>Summer is the hardest seasonal regime.</a:t>
            </a:r>
          </a:p>
        </p:txBody>
      </p:sp>
      <p:sp>
        <p:nvSpPr>
          <p:cNvPr id="152" name="Oval 151"/>
          <p:cNvSpPr/>
          <p:nvPr/>
        </p:nvSpPr>
        <p:spPr>
          <a:xfrm>
            <a:off x="9811512" y="18141696"/>
            <a:ext cx="342351" cy="342351"/>
          </a:xfrm>
          <a:prstGeom prst="ellipse">
            <a:avLst/>
          </a:prstGeom>
          <a:solidFill>
            <a:srgbClr val="EFF9F7"/>
          </a:solidFill>
          <a:ln w="19050"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Pentagon 152"/>
          <p:cNvSpPr/>
          <p:nvPr/>
        </p:nvSpPr>
        <p:spPr>
          <a:xfrm>
            <a:off x="9908072" y="18220700"/>
            <a:ext cx="158008" cy="188732"/>
          </a:xfrm>
          <a:prstGeom prst="homePlate">
            <a:avLst/>
          </a:prstGeom>
          <a:solidFill>
            <a:srgbClr val="E8F6F0"/>
          </a:solidFill>
          <a:ln>
            <a:solidFill>
              <a:srgbClr val="3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930018" y="18273369"/>
            <a:ext cx="114117" cy="52669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384" b="1">
                <a:solidFill>
                  <a:srgbClr val="3064A2"/>
                </a:solidFill>
                <a:latin typeface="Aptos"/>
              </a:rPr>
              <a:t>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14432" y="18169128"/>
            <a:ext cx="1028700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133043"/>
                </a:solidFill>
                <a:latin typeface="Aptos"/>
              </a:rPr>
              <a:t>Use low-compute baselines for auditability.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1762720" y="18169128"/>
            <a:ext cx="21214080" cy="4800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8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21762720" y="18169128"/>
            <a:ext cx="21214080" cy="43891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1963888" y="18205704"/>
            <a:ext cx="502920" cy="32918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585680" y="18233136"/>
            <a:ext cx="20208239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2265640" y="18918936"/>
            <a:ext cx="20116800" cy="11704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133043"/>
                </a:solidFill>
                <a:latin typeface="Aptos"/>
              </a:rPr>
              <a:t>Responsible model selection should be Pareto-based: accuracy, carbon proxy, runtime, model size, seasonal robustness and auditability are evaluated together.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448520" y="20500848"/>
            <a:ext cx="19659600" cy="93268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350" b="0">
                <a:solidFill>
                  <a:srgbClr val="57606A"/>
                </a:solidFill>
                <a:latin typeface="Aptos"/>
              </a:rPr>
              <a:t>Recommended balanced model: Histogram Gradient Boosting. Recommended low-compute fallback: Linear SVM. Next step: replace proxy energy with measured hardware power.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24003000"/>
            <a:ext cx="43891200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05840" y="24112728"/>
            <a:ext cx="40965120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Dataset: Open Power System Data Time Series (2020-10-06) | Reproducible notebooks, figures, tables, workflow, and IEEE/PES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